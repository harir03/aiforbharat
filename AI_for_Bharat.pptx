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grandir Narrow Bold" charset="1" panose="00000806000000000000"/>
      <p:regular r:id="rId17"/>
    </p:embeddedFont>
    <p:embeddedFont>
      <p:font typeface="Agrandir Narrow" charset="1" panose="00000506000000000000"/>
      <p:regular r:id="rId18"/>
    </p:embeddedFont>
    <p:embeddedFont>
      <p:font typeface="Canva Sans Italics" charset="1" panose="020B0503030501040103"/>
      <p:regular r:id="rId19"/>
    </p:embeddedFont>
    <p:embeddedFont>
      <p:font typeface="Canva Sans Bold Italics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  <p:embeddedFont>
      <p:font typeface="Agrandir Narrow Italics" charset="1" panose="00000506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https://aiforbharat-two.vercel.app" TargetMode="External" Type="http://schemas.openxmlformats.org/officeDocument/2006/relationships/hyperlink"/><Relationship Id="rId7" Target="https://github.com/harir03/aiforbharat.gi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05000"/>
            <a:ext cx="18288000" cy="12192000"/>
          </a:xfrm>
          <a:custGeom>
            <a:avLst/>
            <a:gdLst/>
            <a:ahLst/>
            <a:cxnLst/>
            <a:rect r="r" b="b" t="t" l="l"/>
            <a:pathLst>
              <a:path h="12192000" w="18288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657332"/>
            <a:ext cx="18288000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 spc="1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UB</a:t>
            </a:r>
            <a:r>
              <a:rPr lang="en-US" b="true" sz="5499" spc="1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ID Unified Business Identifier &amp; Active Business 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8326" y="5565507"/>
            <a:ext cx="6731347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On</a:t>
            </a:r>
            <a:r>
              <a:rPr lang="en-US" sz="3099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 identifier. Every business. Full clarity.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53894" y="9553726"/>
            <a:ext cx="598021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"You can't govern what you can't identify."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2949" y="7674652"/>
            <a:ext cx="3362102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Nikhil</a:t>
            </a:r>
          </a:p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K Harinadha Reddy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7838" y="6776420"/>
            <a:ext cx="3832324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Team Members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1265" y="856982"/>
            <a:ext cx="896064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58"/>
              </a:lnSpc>
              <a:spcBef>
                <a:spcPct val="0"/>
              </a:spcBef>
            </a:pPr>
            <a:r>
              <a:rPr lang="en-US" b="true" sz="11798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AI for Bharat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9487" y="372210"/>
            <a:ext cx="11469026" cy="1008915"/>
            <a:chOff x="0" y="0"/>
            <a:chExt cx="3020649" cy="265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0649" cy="265722"/>
            </a:xfrm>
            <a:custGeom>
              <a:avLst/>
              <a:gdLst/>
              <a:ahLst/>
              <a:cxnLst/>
              <a:rect r="r" b="b" t="t" l="l"/>
              <a:pathLst>
                <a:path h="265722" w="3020649">
                  <a:moveTo>
                    <a:pt x="34426" y="0"/>
                  </a:moveTo>
                  <a:lnTo>
                    <a:pt x="2986222" y="0"/>
                  </a:lnTo>
                  <a:cubicBezTo>
                    <a:pt x="2995353" y="0"/>
                    <a:pt x="3004109" y="3627"/>
                    <a:pt x="3010565" y="10083"/>
                  </a:cubicBezTo>
                  <a:cubicBezTo>
                    <a:pt x="3017022" y="16539"/>
                    <a:pt x="3020649" y="25296"/>
                    <a:pt x="3020649" y="34426"/>
                  </a:cubicBezTo>
                  <a:lnTo>
                    <a:pt x="3020649" y="231296"/>
                  </a:lnTo>
                  <a:cubicBezTo>
                    <a:pt x="3020649" y="240426"/>
                    <a:pt x="3017022" y="249183"/>
                    <a:pt x="3010565" y="255639"/>
                  </a:cubicBezTo>
                  <a:cubicBezTo>
                    <a:pt x="3004109" y="262095"/>
                    <a:pt x="2995353" y="265722"/>
                    <a:pt x="2986222" y="265722"/>
                  </a:cubicBezTo>
                  <a:lnTo>
                    <a:pt x="34426" y="265722"/>
                  </a:lnTo>
                  <a:cubicBezTo>
                    <a:pt x="25296" y="265722"/>
                    <a:pt x="16539" y="262095"/>
                    <a:pt x="10083" y="255639"/>
                  </a:cubicBezTo>
                  <a:cubicBezTo>
                    <a:pt x="3627" y="249183"/>
                    <a:pt x="0" y="240426"/>
                    <a:pt x="0" y="231296"/>
                  </a:cubicBezTo>
                  <a:lnTo>
                    <a:pt x="0" y="34426"/>
                  </a:lnTo>
                  <a:cubicBezTo>
                    <a:pt x="0" y="25296"/>
                    <a:pt x="3627" y="16539"/>
                    <a:pt x="10083" y="10083"/>
                  </a:cubicBezTo>
                  <a:cubicBezTo>
                    <a:pt x="16539" y="3627"/>
                    <a:pt x="25296" y="0"/>
                    <a:pt x="34426" y="0"/>
                  </a:cubicBezTo>
                  <a:close/>
                </a:path>
              </a:pathLst>
            </a:custGeom>
            <a:solidFill>
              <a:srgbClr val="2250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20649" cy="38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941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21945600" cy="2419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PROBLEM STATEMENT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99868" y="1600568"/>
            <a:ext cx="8488263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The Problem with Karnataka's Business Data Today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614" y="2279383"/>
            <a:ext cx="16919792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The Core Flaw: 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Karnataka has </a:t>
            </a: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40+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government department systems Shop Establishment, Factories, Labour, KSPCB, BESCOM and more. Every single one was built in isolation with </a:t>
            </a: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no shared ID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for businesses.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same business exists as </a:t>
            </a: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completely different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records in </a:t>
            </a: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different databases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 There is </a:t>
            </a: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no 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way to </a:t>
            </a:r>
            <a:r>
              <a:rPr lang="en-US" b="true" sz="25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connect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them.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PAN and GSTIN exist in some systems but are only partially filled — so even the federal a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nch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</a:t>
            </a:r>
            <a:r>
              <a:rPr lang="en-US" sz="25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 can't be used reliably.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4077" y="4152424"/>
            <a:ext cx="5976528" cy="6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sz="3098" b="true">
                <a:solidFill>
                  <a:srgbClr val="035C7C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The Cascading</a:t>
            </a:r>
            <a:r>
              <a:rPr lang="en-US" sz="3098" b="true">
                <a:solidFill>
                  <a:srgbClr val="035C7C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Failure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5939" y="4848225"/>
            <a:ext cx="17192625" cy="295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88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No</a:t>
            </a: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Join Key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Karnataka C&amp;I </a:t>
            </a: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cannot link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a business's records across even </a:t>
            </a: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two departments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</a:t>
            </a:r>
          </a:p>
          <a:p>
            <a:pPr algn="just" marL="518162" indent="-259081" lvl="1">
              <a:lnSpc>
                <a:spcPts val="388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No Activity View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Inspections, renewals, compliance events </a:t>
            </a: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all trapped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inside individual department silos.</a:t>
            </a:r>
          </a:p>
          <a:p>
            <a:pPr algn="l" marL="518162" indent="-259081" lvl="1">
              <a:lnSpc>
                <a:spcPts val="388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No Answer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"How many factories in Bengaluru had no inspection in 18 months?"  </a:t>
            </a: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impossible to answer today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</a:t>
            </a:r>
          </a:p>
          <a:p>
            <a:pPr algn="l" marL="518162" indent="-259081" lvl="1">
              <a:lnSpc>
                <a:spcPts val="388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No Migration Option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A big-bang migration like the GST rollout caused months of chaos. That approach cannot be repeated here.</a:t>
            </a:r>
          </a:p>
          <a:p>
            <a:pPr algn="l" marL="518162" indent="-259081" lvl="1">
              <a:lnSpc>
                <a:spcPts val="3888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The Consequence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Compliance tracking, audits, and policy decisions are all based on </a:t>
            </a:r>
            <a:r>
              <a:rPr lang="en-US" b="true" sz="24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incomplete, disconnected data</a:t>
            </a:r>
            <a:r>
              <a:rPr lang="en-US" sz="2400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</a:t>
            </a:r>
          </a:p>
          <a:p>
            <a:pPr algn="l">
              <a:lnSpc>
                <a:spcPts val="388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5690964" y="7566995"/>
            <a:ext cx="2367658" cy="2344306"/>
            <a:chOff x="0" y="0"/>
            <a:chExt cx="758155" cy="7506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8155" cy="750677"/>
            </a:xfrm>
            <a:custGeom>
              <a:avLst/>
              <a:gdLst/>
              <a:ahLst/>
              <a:cxnLst/>
              <a:rect r="r" b="b" t="t" l="l"/>
              <a:pathLst>
                <a:path h="750677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750677"/>
                  </a:lnTo>
                  <a:lnTo>
                    <a:pt x="0" y="750677"/>
                  </a:lnTo>
                  <a:close/>
                </a:path>
              </a:pathLst>
            </a:custGeom>
            <a:solidFill>
              <a:srgbClr val="DDF2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58155" cy="80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38353" y="7544984"/>
            <a:ext cx="2367658" cy="2344306"/>
            <a:chOff x="0" y="0"/>
            <a:chExt cx="758155" cy="7506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8155" cy="750677"/>
            </a:xfrm>
            <a:custGeom>
              <a:avLst/>
              <a:gdLst/>
              <a:ahLst/>
              <a:cxnLst/>
              <a:rect r="r" b="b" t="t" l="l"/>
              <a:pathLst>
                <a:path h="750677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750677"/>
                  </a:lnTo>
                  <a:lnTo>
                    <a:pt x="0" y="750677"/>
                  </a:lnTo>
                  <a:close/>
                </a:path>
              </a:pathLst>
            </a:custGeom>
            <a:solidFill>
              <a:srgbClr val="DDF2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58155" cy="80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38353" y="7566995"/>
            <a:ext cx="2367658" cy="276688"/>
            <a:chOff x="0" y="0"/>
            <a:chExt cx="758155" cy="885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8155" cy="88599"/>
            </a:xfrm>
            <a:custGeom>
              <a:avLst/>
              <a:gdLst/>
              <a:ahLst/>
              <a:cxnLst/>
              <a:rect r="r" b="b" t="t" l="l"/>
              <a:pathLst>
                <a:path h="88599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88599"/>
                  </a:lnTo>
                  <a:lnTo>
                    <a:pt x="0" y="88599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58155" cy="145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690964" y="7566995"/>
            <a:ext cx="2367658" cy="276688"/>
            <a:chOff x="0" y="0"/>
            <a:chExt cx="758155" cy="88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8155" cy="88599"/>
            </a:xfrm>
            <a:custGeom>
              <a:avLst/>
              <a:gdLst/>
              <a:ahLst/>
              <a:cxnLst/>
              <a:rect r="r" b="b" t="t" l="l"/>
              <a:pathLst>
                <a:path h="88599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88599"/>
                  </a:lnTo>
                  <a:lnTo>
                    <a:pt x="0" y="88599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58155" cy="145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83485" y="8746118"/>
            <a:ext cx="207739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7"/>
              </a:lnSpc>
              <a:spcBef>
                <a:spcPct val="0"/>
              </a:spcBef>
            </a:pP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Gover</a:t>
            </a: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nment departments with no shared business ID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8035" y="8053785"/>
            <a:ext cx="4088294" cy="51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1F1F1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</a:t>
            </a:r>
            <a:r>
              <a:rPr lang="en-US" b="true" sz="2878">
                <a:solidFill>
                  <a:srgbClr val="1F1F1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0+ 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2183485" y="8562870"/>
            <a:ext cx="2077395" cy="5835"/>
          </a:xfrm>
          <a:prstGeom prst="line">
            <a:avLst/>
          </a:prstGeom>
          <a:ln cap="flat" w="28575">
            <a:solidFill>
              <a:srgbClr val="4A8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5805126" y="8537256"/>
            <a:ext cx="210836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7"/>
              </a:lnSpc>
              <a:spcBef>
                <a:spcPct val="0"/>
              </a:spcBef>
            </a:pP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Simple</a:t>
            </a: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questions Karnataka cannot answer today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75479" y="8029592"/>
            <a:ext cx="2367658" cy="51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1F1F1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0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5836096" y="8587799"/>
            <a:ext cx="2077395" cy="5835"/>
          </a:xfrm>
          <a:prstGeom prst="line">
            <a:avLst/>
          </a:prstGeom>
          <a:ln cap="flat" w="28575">
            <a:solidFill>
              <a:srgbClr val="4A89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3255837" y="7566995"/>
            <a:ext cx="2367658" cy="2344306"/>
            <a:chOff x="0" y="0"/>
            <a:chExt cx="758155" cy="7506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8155" cy="750677"/>
            </a:xfrm>
            <a:custGeom>
              <a:avLst/>
              <a:gdLst/>
              <a:ahLst/>
              <a:cxnLst/>
              <a:rect r="r" b="b" t="t" l="l"/>
              <a:pathLst>
                <a:path h="750677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750677"/>
                  </a:lnTo>
                  <a:lnTo>
                    <a:pt x="0" y="750677"/>
                  </a:lnTo>
                  <a:close/>
                </a:path>
              </a:pathLst>
            </a:custGeom>
            <a:solidFill>
              <a:srgbClr val="DDF2F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58155" cy="80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3291" y="7566995"/>
            <a:ext cx="2367658" cy="2344306"/>
            <a:chOff x="0" y="0"/>
            <a:chExt cx="758155" cy="7506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8155" cy="750677"/>
            </a:xfrm>
            <a:custGeom>
              <a:avLst/>
              <a:gdLst/>
              <a:ahLst/>
              <a:cxnLst/>
              <a:rect r="r" b="b" t="t" l="l"/>
              <a:pathLst>
                <a:path h="750677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750677"/>
                  </a:lnTo>
                  <a:lnTo>
                    <a:pt x="0" y="750677"/>
                  </a:lnTo>
                  <a:close/>
                </a:path>
              </a:pathLst>
            </a:custGeom>
            <a:solidFill>
              <a:srgbClr val="DDF2F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758155" cy="80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23291" y="7566995"/>
            <a:ext cx="2367658" cy="276688"/>
            <a:chOff x="0" y="0"/>
            <a:chExt cx="758155" cy="885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8155" cy="88599"/>
            </a:xfrm>
            <a:custGeom>
              <a:avLst/>
              <a:gdLst/>
              <a:ahLst/>
              <a:cxnLst/>
              <a:rect r="r" b="b" t="t" l="l"/>
              <a:pathLst>
                <a:path h="88599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88599"/>
                  </a:lnTo>
                  <a:lnTo>
                    <a:pt x="0" y="88599"/>
                  </a:lnTo>
                  <a:close/>
                </a:path>
              </a:pathLst>
            </a:custGeom>
            <a:solidFill>
              <a:srgbClr val="143DF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58155" cy="145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255837" y="7566995"/>
            <a:ext cx="2367658" cy="276688"/>
            <a:chOff x="0" y="0"/>
            <a:chExt cx="758155" cy="885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8155" cy="88599"/>
            </a:xfrm>
            <a:custGeom>
              <a:avLst/>
              <a:gdLst/>
              <a:ahLst/>
              <a:cxnLst/>
              <a:rect r="r" b="b" t="t" l="l"/>
              <a:pathLst>
                <a:path h="88599" w="758155">
                  <a:moveTo>
                    <a:pt x="0" y="0"/>
                  </a:moveTo>
                  <a:lnTo>
                    <a:pt x="758155" y="0"/>
                  </a:lnTo>
                  <a:lnTo>
                    <a:pt x="758155" y="88599"/>
                  </a:lnTo>
                  <a:lnTo>
                    <a:pt x="0" y="88599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758155" cy="145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478340" y="8422545"/>
            <a:ext cx="225756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7"/>
              </a:lnSpc>
              <a:spcBef>
                <a:spcPct val="0"/>
              </a:spcBef>
            </a:pPr>
          </a:p>
          <a:p>
            <a:pPr algn="ctr">
              <a:lnSpc>
                <a:spcPts val="2257"/>
              </a:lnSpc>
              <a:spcBef>
                <a:spcPct val="0"/>
              </a:spcBef>
            </a:pP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Months it took to recover from GST data issues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21597" y="7968917"/>
            <a:ext cx="571047" cy="51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1F1F1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12+</a:t>
            </a:r>
          </a:p>
        </p:txBody>
      </p:sp>
      <p:sp>
        <p:nvSpPr>
          <p:cNvPr name="AutoShape 44" id="44"/>
          <p:cNvSpPr/>
          <p:nvPr/>
        </p:nvSpPr>
        <p:spPr>
          <a:xfrm flipV="true">
            <a:off x="9568467" y="8538678"/>
            <a:ext cx="2077395" cy="5835"/>
          </a:xfrm>
          <a:prstGeom prst="line">
            <a:avLst/>
          </a:prstGeom>
          <a:ln cap="flat" w="28575">
            <a:solidFill>
              <a:srgbClr val="4A8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3515318" y="8515245"/>
            <a:ext cx="19321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7"/>
              </a:lnSpc>
              <a:spcBef>
                <a:spcPct val="0"/>
              </a:spcBef>
            </a:pP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Bus</a:t>
            </a:r>
            <a:r>
              <a:rPr lang="en-US" sz="1880">
                <a:solidFill>
                  <a:srgbClr val="1F1F1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inesses that exist under different names across departments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820635" y="7955250"/>
            <a:ext cx="1207094" cy="51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b="true" sz="2878">
                <a:solidFill>
                  <a:srgbClr val="1F1F1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~100%</a:t>
            </a:r>
          </a:p>
        </p:txBody>
      </p:sp>
      <p:sp>
        <p:nvSpPr>
          <p:cNvPr name="AutoShape 47" id="47"/>
          <p:cNvSpPr/>
          <p:nvPr/>
        </p:nvSpPr>
        <p:spPr>
          <a:xfrm flipV="true">
            <a:off x="13370044" y="8505118"/>
            <a:ext cx="2077395" cy="5835"/>
          </a:xfrm>
          <a:prstGeom prst="line">
            <a:avLst/>
          </a:prstGeom>
          <a:ln cap="flat" w="28575">
            <a:solidFill>
              <a:srgbClr val="4A89C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9487" y="372210"/>
            <a:ext cx="11469026" cy="1008915"/>
            <a:chOff x="0" y="0"/>
            <a:chExt cx="3020649" cy="265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0649" cy="265722"/>
            </a:xfrm>
            <a:custGeom>
              <a:avLst/>
              <a:gdLst/>
              <a:ahLst/>
              <a:cxnLst/>
              <a:rect r="r" b="b" t="t" l="l"/>
              <a:pathLst>
                <a:path h="265722" w="3020649">
                  <a:moveTo>
                    <a:pt x="34426" y="0"/>
                  </a:moveTo>
                  <a:lnTo>
                    <a:pt x="2986222" y="0"/>
                  </a:lnTo>
                  <a:cubicBezTo>
                    <a:pt x="2995353" y="0"/>
                    <a:pt x="3004109" y="3627"/>
                    <a:pt x="3010565" y="10083"/>
                  </a:cubicBezTo>
                  <a:cubicBezTo>
                    <a:pt x="3017022" y="16539"/>
                    <a:pt x="3020649" y="25296"/>
                    <a:pt x="3020649" y="34426"/>
                  </a:cubicBezTo>
                  <a:lnTo>
                    <a:pt x="3020649" y="231296"/>
                  </a:lnTo>
                  <a:cubicBezTo>
                    <a:pt x="3020649" y="240426"/>
                    <a:pt x="3017022" y="249183"/>
                    <a:pt x="3010565" y="255639"/>
                  </a:cubicBezTo>
                  <a:cubicBezTo>
                    <a:pt x="3004109" y="262095"/>
                    <a:pt x="2995353" y="265722"/>
                    <a:pt x="2986222" y="265722"/>
                  </a:cubicBezTo>
                  <a:lnTo>
                    <a:pt x="34426" y="265722"/>
                  </a:lnTo>
                  <a:cubicBezTo>
                    <a:pt x="25296" y="265722"/>
                    <a:pt x="16539" y="262095"/>
                    <a:pt x="10083" y="255639"/>
                  </a:cubicBezTo>
                  <a:cubicBezTo>
                    <a:pt x="3627" y="249183"/>
                    <a:pt x="0" y="240426"/>
                    <a:pt x="0" y="231296"/>
                  </a:cubicBezTo>
                  <a:lnTo>
                    <a:pt x="0" y="34426"/>
                  </a:lnTo>
                  <a:cubicBezTo>
                    <a:pt x="0" y="25296"/>
                    <a:pt x="3627" y="16539"/>
                    <a:pt x="10083" y="10083"/>
                  </a:cubicBezTo>
                  <a:cubicBezTo>
                    <a:pt x="16539" y="3627"/>
                    <a:pt x="25296" y="0"/>
                    <a:pt x="34426" y="0"/>
                  </a:cubicBezTo>
                  <a:close/>
                </a:path>
              </a:pathLst>
            </a:custGeom>
            <a:solidFill>
              <a:srgbClr val="2250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20649" cy="38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941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21945600" cy="2419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Proposed Solution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5030" y="3656934"/>
            <a:ext cx="5329430" cy="4659093"/>
            <a:chOff x="0" y="0"/>
            <a:chExt cx="7105906" cy="621212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105906" cy="6212123"/>
              <a:chOff x="0" y="0"/>
              <a:chExt cx="1403636" cy="122708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03636" cy="1227086"/>
              </a:xfrm>
              <a:custGeom>
                <a:avLst/>
                <a:gdLst/>
                <a:ahLst/>
                <a:cxnLst/>
                <a:rect r="r" b="b" t="t" l="l"/>
                <a:pathLst>
                  <a:path h="1227086" w="1403636">
                    <a:moveTo>
                      <a:pt x="47938" y="0"/>
                    </a:moveTo>
                    <a:lnTo>
                      <a:pt x="1355698" y="0"/>
                    </a:lnTo>
                    <a:cubicBezTo>
                      <a:pt x="1382173" y="0"/>
                      <a:pt x="1403636" y="21463"/>
                      <a:pt x="1403636" y="47938"/>
                    </a:cubicBezTo>
                    <a:lnTo>
                      <a:pt x="1403636" y="1179148"/>
                    </a:lnTo>
                    <a:cubicBezTo>
                      <a:pt x="1403636" y="1191862"/>
                      <a:pt x="1398585" y="1204055"/>
                      <a:pt x="1389595" y="1213045"/>
                    </a:cubicBezTo>
                    <a:cubicBezTo>
                      <a:pt x="1380605" y="1222035"/>
                      <a:pt x="1368412" y="1227086"/>
                      <a:pt x="1355698" y="1227086"/>
                    </a:cubicBezTo>
                    <a:lnTo>
                      <a:pt x="47938" y="1227086"/>
                    </a:lnTo>
                    <a:cubicBezTo>
                      <a:pt x="35224" y="1227086"/>
                      <a:pt x="23031" y="1222035"/>
                      <a:pt x="14041" y="1213045"/>
                    </a:cubicBezTo>
                    <a:cubicBezTo>
                      <a:pt x="5051" y="1204055"/>
                      <a:pt x="0" y="1191862"/>
                      <a:pt x="0" y="1179148"/>
                    </a:cubicBezTo>
                    <a:lnTo>
                      <a:pt x="0" y="47938"/>
                    </a:lnTo>
                    <a:cubicBezTo>
                      <a:pt x="0" y="35224"/>
                      <a:pt x="5051" y="23031"/>
                      <a:pt x="14041" y="14041"/>
                    </a:cubicBezTo>
                    <a:cubicBezTo>
                      <a:pt x="23031" y="5051"/>
                      <a:pt x="35224" y="0"/>
                      <a:pt x="47938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403636" cy="1236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5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54537" y="147782"/>
              <a:ext cx="6780373" cy="5896038"/>
              <a:chOff x="0" y="0"/>
              <a:chExt cx="1339333" cy="11646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39333" cy="1164650"/>
              </a:xfrm>
              <a:custGeom>
                <a:avLst/>
                <a:gdLst/>
                <a:ahLst/>
                <a:cxnLst/>
                <a:rect r="r" b="b" t="t" l="l"/>
                <a:pathLst>
                  <a:path h="1164650" w="1339333">
                    <a:moveTo>
                      <a:pt x="36538" y="0"/>
                    </a:moveTo>
                    <a:lnTo>
                      <a:pt x="1302795" y="0"/>
                    </a:lnTo>
                    <a:cubicBezTo>
                      <a:pt x="1312485" y="0"/>
                      <a:pt x="1321779" y="3850"/>
                      <a:pt x="1328631" y="10702"/>
                    </a:cubicBezTo>
                    <a:cubicBezTo>
                      <a:pt x="1335483" y="17554"/>
                      <a:pt x="1339333" y="26848"/>
                      <a:pt x="1339333" y="36538"/>
                    </a:cubicBezTo>
                    <a:lnTo>
                      <a:pt x="1339333" y="1128112"/>
                    </a:lnTo>
                    <a:cubicBezTo>
                      <a:pt x="1339333" y="1137802"/>
                      <a:pt x="1335483" y="1147096"/>
                      <a:pt x="1328631" y="1153948"/>
                    </a:cubicBezTo>
                    <a:cubicBezTo>
                      <a:pt x="1321779" y="1160800"/>
                      <a:pt x="1312485" y="1164650"/>
                      <a:pt x="1302795" y="1164650"/>
                    </a:cubicBezTo>
                    <a:lnTo>
                      <a:pt x="36538" y="1164650"/>
                    </a:lnTo>
                    <a:cubicBezTo>
                      <a:pt x="26848" y="1164650"/>
                      <a:pt x="17554" y="1160800"/>
                      <a:pt x="10702" y="1153948"/>
                    </a:cubicBezTo>
                    <a:cubicBezTo>
                      <a:pt x="3850" y="1147096"/>
                      <a:pt x="0" y="1137802"/>
                      <a:pt x="0" y="1128112"/>
                    </a:cubicBezTo>
                    <a:lnTo>
                      <a:pt x="0" y="36538"/>
                    </a:lnTo>
                    <a:cubicBezTo>
                      <a:pt x="0" y="26848"/>
                      <a:pt x="3850" y="17554"/>
                      <a:pt x="10702" y="10702"/>
                    </a:cubicBezTo>
                    <a:cubicBezTo>
                      <a:pt x="17554" y="3850"/>
                      <a:pt x="26848" y="0"/>
                      <a:pt x="36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339333" cy="1174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52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2370960" y="3656934"/>
            <a:ext cx="5329430" cy="4659093"/>
            <a:chOff x="0" y="0"/>
            <a:chExt cx="7105906" cy="621212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105906" cy="6212123"/>
              <a:chOff x="0" y="0"/>
              <a:chExt cx="1403636" cy="122708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03636" cy="1227086"/>
              </a:xfrm>
              <a:custGeom>
                <a:avLst/>
                <a:gdLst/>
                <a:ahLst/>
                <a:cxnLst/>
                <a:rect r="r" b="b" t="t" l="l"/>
                <a:pathLst>
                  <a:path h="1227086" w="1403636">
                    <a:moveTo>
                      <a:pt x="47938" y="0"/>
                    </a:moveTo>
                    <a:lnTo>
                      <a:pt x="1355698" y="0"/>
                    </a:lnTo>
                    <a:cubicBezTo>
                      <a:pt x="1382173" y="0"/>
                      <a:pt x="1403636" y="21463"/>
                      <a:pt x="1403636" y="47938"/>
                    </a:cubicBezTo>
                    <a:lnTo>
                      <a:pt x="1403636" y="1179148"/>
                    </a:lnTo>
                    <a:cubicBezTo>
                      <a:pt x="1403636" y="1191862"/>
                      <a:pt x="1398585" y="1204055"/>
                      <a:pt x="1389595" y="1213045"/>
                    </a:cubicBezTo>
                    <a:cubicBezTo>
                      <a:pt x="1380605" y="1222035"/>
                      <a:pt x="1368412" y="1227086"/>
                      <a:pt x="1355698" y="1227086"/>
                    </a:cubicBezTo>
                    <a:lnTo>
                      <a:pt x="47938" y="1227086"/>
                    </a:lnTo>
                    <a:cubicBezTo>
                      <a:pt x="35224" y="1227086"/>
                      <a:pt x="23031" y="1222035"/>
                      <a:pt x="14041" y="1213045"/>
                    </a:cubicBezTo>
                    <a:cubicBezTo>
                      <a:pt x="5051" y="1204055"/>
                      <a:pt x="0" y="1191862"/>
                      <a:pt x="0" y="1179148"/>
                    </a:cubicBezTo>
                    <a:lnTo>
                      <a:pt x="0" y="47938"/>
                    </a:lnTo>
                    <a:cubicBezTo>
                      <a:pt x="0" y="35224"/>
                      <a:pt x="5051" y="23031"/>
                      <a:pt x="14041" y="14041"/>
                    </a:cubicBezTo>
                    <a:cubicBezTo>
                      <a:pt x="23031" y="5051"/>
                      <a:pt x="35224" y="0"/>
                      <a:pt x="47938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403636" cy="1236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5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4537" y="147782"/>
              <a:ext cx="6780373" cy="5896038"/>
              <a:chOff x="0" y="0"/>
              <a:chExt cx="1339333" cy="11646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39333" cy="1164650"/>
              </a:xfrm>
              <a:custGeom>
                <a:avLst/>
                <a:gdLst/>
                <a:ahLst/>
                <a:cxnLst/>
                <a:rect r="r" b="b" t="t" l="l"/>
                <a:pathLst>
                  <a:path h="1164650" w="1339333">
                    <a:moveTo>
                      <a:pt x="36538" y="0"/>
                    </a:moveTo>
                    <a:lnTo>
                      <a:pt x="1302795" y="0"/>
                    </a:lnTo>
                    <a:cubicBezTo>
                      <a:pt x="1312485" y="0"/>
                      <a:pt x="1321779" y="3850"/>
                      <a:pt x="1328631" y="10702"/>
                    </a:cubicBezTo>
                    <a:cubicBezTo>
                      <a:pt x="1335483" y="17554"/>
                      <a:pt x="1339333" y="26848"/>
                      <a:pt x="1339333" y="36538"/>
                    </a:cubicBezTo>
                    <a:lnTo>
                      <a:pt x="1339333" y="1128112"/>
                    </a:lnTo>
                    <a:cubicBezTo>
                      <a:pt x="1339333" y="1137802"/>
                      <a:pt x="1335483" y="1147096"/>
                      <a:pt x="1328631" y="1153948"/>
                    </a:cubicBezTo>
                    <a:cubicBezTo>
                      <a:pt x="1321779" y="1160800"/>
                      <a:pt x="1312485" y="1164650"/>
                      <a:pt x="1302795" y="1164650"/>
                    </a:cubicBezTo>
                    <a:lnTo>
                      <a:pt x="36538" y="1164650"/>
                    </a:lnTo>
                    <a:cubicBezTo>
                      <a:pt x="26848" y="1164650"/>
                      <a:pt x="17554" y="1160800"/>
                      <a:pt x="10702" y="1153948"/>
                    </a:cubicBezTo>
                    <a:cubicBezTo>
                      <a:pt x="3850" y="1147096"/>
                      <a:pt x="0" y="1137802"/>
                      <a:pt x="0" y="1128112"/>
                    </a:cubicBezTo>
                    <a:lnTo>
                      <a:pt x="0" y="36538"/>
                    </a:lnTo>
                    <a:cubicBezTo>
                      <a:pt x="0" y="26848"/>
                      <a:pt x="3850" y="17554"/>
                      <a:pt x="10702" y="10702"/>
                    </a:cubicBezTo>
                    <a:cubicBezTo>
                      <a:pt x="17554" y="3850"/>
                      <a:pt x="26848" y="0"/>
                      <a:pt x="36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1339333" cy="1174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52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6479285" y="3656934"/>
            <a:ext cx="5329430" cy="4659093"/>
            <a:chOff x="0" y="0"/>
            <a:chExt cx="7105906" cy="621212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105906" cy="6212123"/>
              <a:chOff x="0" y="0"/>
              <a:chExt cx="1403636" cy="122708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03636" cy="1227086"/>
              </a:xfrm>
              <a:custGeom>
                <a:avLst/>
                <a:gdLst/>
                <a:ahLst/>
                <a:cxnLst/>
                <a:rect r="r" b="b" t="t" l="l"/>
                <a:pathLst>
                  <a:path h="1227086" w="1403636">
                    <a:moveTo>
                      <a:pt x="47938" y="0"/>
                    </a:moveTo>
                    <a:lnTo>
                      <a:pt x="1355698" y="0"/>
                    </a:lnTo>
                    <a:cubicBezTo>
                      <a:pt x="1382173" y="0"/>
                      <a:pt x="1403636" y="21463"/>
                      <a:pt x="1403636" y="47938"/>
                    </a:cubicBezTo>
                    <a:lnTo>
                      <a:pt x="1403636" y="1179148"/>
                    </a:lnTo>
                    <a:cubicBezTo>
                      <a:pt x="1403636" y="1191862"/>
                      <a:pt x="1398585" y="1204055"/>
                      <a:pt x="1389595" y="1213045"/>
                    </a:cubicBezTo>
                    <a:cubicBezTo>
                      <a:pt x="1380605" y="1222035"/>
                      <a:pt x="1368412" y="1227086"/>
                      <a:pt x="1355698" y="1227086"/>
                    </a:cubicBezTo>
                    <a:lnTo>
                      <a:pt x="47938" y="1227086"/>
                    </a:lnTo>
                    <a:cubicBezTo>
                      <a:pt x="35224" y="1227086"/>
                      <a:pt x="23031" y="1222035"/>
                      <a:pt x="14041" y="1213045"/>
                    </a:cubicBezTo>
                    <a:cubicBezTo>
                      <a:pt x="5051" y="1204055"/>
                      <a:pt x="0" y="1191862"/>
                      <a:pt x="0" y="1179148"/>
                    </a:cubicBezTo>
                    <a:lnTo>
                      <a:pt x="0" y="47938"/>
                    </a:lnTo>
                    <a:cubicBezTo>
                      <a:pt x="0" y="35224"/>
                      <a:pt x="5051" y="23031"/>
                      <a:pt x="14041" y="14041"/>
                    </a:cubicBezTo>
                    <a:cubicBezTo>
                      <a:pt x="23031" y="5051"/>
                      <a:pt x="35224" y="0"/>
                      <a:pt x="47938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403636" cy="1236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52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54537" y="147782"/>
              <a:ext cx="6780373" cy="5896038"/>
              <a:chOff x="0" y="0"/>
              <a:chExt cx="1339333" cy="11646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39333" cy="1164650"/>
              </a:xfrm>
              <a:custGeom>
                <a:avLst/>
                <a:gdLst/>
                <a:ahLst/>
                <a:cxnLst/>
                <a:rect r="r" b="b" t="t" l="l"/>
                <a:pathLst>
                  <a:path h="1164650" w="1339333">
                    <a:moveTo>
                      <a:pt x="36538" y="0"/>
                    </a:moveTo>
                    <a:lnTo>
                      <a:pt x="1302795" y="0"/>
                    </a:lnTo>
                    <a:cubicBezTo>
                      <a:pt x="1312485" y="0"/>
                      <a:pt x="1321779" y="3850"/>
                      <a:pt x="1328631" y="10702"/>
                    </a:cubicBezTo>
                    <a:cubicBezTo>
                      <a:pt x="1335483" y="17554"/>
                      <a:pt x="1339333" y="26848"/>
                      <a:pt x="1339333" y="36538"/>
                    </a:cubicBezTo>
                    <a:lnTo>
                      <a:pt x="1339333" y="1128112"/>
                    </a:lnTo>
                    <a:cubicBezTo>
                      <a:pt x="1339333" y="1137802"/>
                      <a:pt x="1335483" y="1147096"/>
                      <a:pt x="1328631" y="1153948"/>
                    </a:cubicBezTo>
                    <a:cubicBezTo>
                      <a:pt x="1321779" y="1160800"/>
                      <a:pt x="1312485" y="1164650"/>
                      <a:pt x="1302795" y="1164650"/>
                    </a:cubicBezTo>
                    <a:lnTo>
                      <a:pt x="36538" y="1164650"/>
                    </a:lnTo>
                    <a:cubicBezTo>
                      <a:pt x="26848" y="1164650"/>
                      <a:pt x="17554" y="1160800"/>
                      <a:pt x="10702" y="1153948"/>
                    </a:cubicBezTo>
                    <a:cubicBezTo>
                      <a:pt x="3850" y="1147096"/>
                      <a:pt x="0" y="1137802"/>
                      <a:pt x="0" y="1128112"/>
                    </a:cubicBezTo>
                    <a:lnTo>
                      <a:pt x="0" y="36538"/>
                    </a:lnTo>
                    <a:cubicBezTo>
                      <a:pt x="0" y="26848"/>
                      <a:pt x="3850" y="17554"/>
                      <a:pt x="10702" y="10702"/>
                    </a:cubicBezTo>
                    <a:cubicBezTo>
                      <a:pt x="17554" y="3850"/>
                      <a:pt x="26848" y="0"/>
                      <a:pt x="36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1339333" cy="1174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52"/>
                  </a:lnSpc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2034617" y="2165777"/>
            <a:ext cx="14218767" cy="1110157"/>
            <a:chOff x="0" y="0"/>
            <a:chExt cx="3744860" cy="2923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44860" cy="292387"/>
            </a:xfrm>
            <a:custGeom>
              <a:avLst/>
              <a:gdLst/>
              <a:ahLst/>
              <a:cxnLst/>
              <a:rect r="r" b="b" t="t" l="l"/>
              <a:pathLst>
                <a:path h="292387" w="3744860">
                  <a:moveTo>
                    <a:pt x="9801" y="0"/>
                  </a:moveTo>
                  <a:lnTo>
                    <a:pt x="3735060" y="0"/>
                  </a:lnTo>
                  <a:cubicBezTo>
                    <a:pt x="3737659" y="0"/>
                    <a:pt x="3740152" y="1033"/>
                    <a:pt x="3741989" y="2871"/>
                  </a:cubicBezTo>
                  <a:cubicBezTo>
                    <a:pt x="3743828" y="4709"/>
                    <a:pt x="3744860" y="7201"/>
                    <a:pt x="3744860" y="9801"/>
                  </a:cubicBezTo>
                  <a:lnTo>
                    <a:pt x="3744860" y="282586"/>
                  </a:lnTo>
                  <a:cubicBezTo>
                    <a:pt x="3744860" y="287999"/>
                    <a:pt x="3740472" y="292387"/>
                    <a:pt x="3735060" y="292387"/>
                  </a:cubicBezTo>
                  <a:lnTo>
                    <a:pt x="9801" y="292387"/>
                  </a:lnTo>
                  <a:cubicBezTo>
                    <a:pt x="7201" y="292387"/>
                    <a:pt x="4709" y="291354"/>
                    <a:pt x="2871" y="289516"/>
                  </a:cubicBezTo>
                  <a:cubicBezTo>
                    <a:pt x="1033" y="287678"/>
                    <a:pt x="0" y="285186"/>
                    <a:pt x="0" y="282586"/>
                  </a:cubicBezTo>
                  <a:lnTo>
                    <a:pt x="0" y="9801"/>
                  </a:lnTo>
                  <a:cubicBezTo>
                    <a:pt x="0" y="4388"/>
                    <a:pt x="4388" y="0"/>
                    <a:pt x="9801" y="0"/>
                  </a:cubicBez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744860" cy="301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799946" y="5731534"/>
            <a:ext cx="4887798" cy="3639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6700101" y="5754223"/>
            <a:ext cx="4887798" cy="3639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2599304" y="5756043"/>
            <a:ext cx="4887798" cy="3639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4245471" y="1457693"/>
            <a:ext cx="9797058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UBID: One ID for Every Business, Across</a:t>
            </a:r>
            <a:r>
              <a:rPr lang="en-US" b="true" sz="2899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Every Department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30043" y="2328680"/>
            <a:ext cx="1382791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"/>
              </a:lnSpc>
              <a:spcBef>
                <a:spcPct val="0"/>
              </a:spcBef>
            </a:pPr>
            <a:r>
              <a:rPr lang="en-US" b="true" sz="2532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"UBID doesn't touch any existing system.</a:t>
            </a:r>
            <a:r>
              <a:rPr lang="en-US" b="true" sz="2532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It just connects them and finally lets Karnataka see the full picture."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90461" y="3715873"/>
            <a:ext cx="101902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Link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5846" y="4407559"/>
            <a:ext cx="488779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Every business across all </a:t>
            </a:r>
            <a:r>
              <a:rPr lang="en-US" b="true" sz="1799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40+ departments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gets one </a:t>
            </a:r>
            <a:r>
              <a:rPr lang="en-US" b="true" sz="1799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single permanent ID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called a </a:t>
            </a:r>
            <a:r>
              <a:rPr lang="en-US" b="true" sz="1799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UBID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. No existing system is changed or re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placed.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UBID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jus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1799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reads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from them and </a:t>
            </a:r>
            <a:r>
              <a:rPr lang="en-US" b="true" sz="1799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connects</a:t>
            </a:r>
            <a:r>
              <a:rPr lang="en-US" sz="1799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the dots.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9960" y="5805553"/>
            <a:ext cx="4887798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Match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es records using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name,  address, PAN and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GSTIN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Confident matches are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linked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automatically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Uncertain matches go to a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 reviewer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Every link is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logged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be undone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40828" y="4544548"/>
            <a:ext cx="487491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Onc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 linked, UBID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tracks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activity inspection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s,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als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, filings, electricity usage and automatically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labels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each business as: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Active, Dormant, or Closed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75490" y="4435707"/>
            <a:ext cx="488782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Every decision t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he system makes comes with a simple, plain expla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ati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of why it decided that. No black boxes. Every decision can be reversed and asked for in simple query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72700" y="5786503"/>
            <a:ext cx="5125952" cy="205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Shows exac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tly which events drove  the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decision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Rev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ewer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ee a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field-by-field  breakdown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of why two records were linked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Every decision has a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confidence score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No engineering needed to override any officer can correct it directly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85773" y="7805803"/>
            <a:ext cx="488782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manual engineering required.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00101" y="5883573"/>
            <a:ext cx="48877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Act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ive →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busin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ss has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recent filings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,  insp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ection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or licence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renewals.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Dormant → no activity for an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extended period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Cl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se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→ cl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os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ur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800">
                <a:solidFill>
                  <a:srgbClr val="035C7C"/>
                </a:solidFill>
                <a:latin typeface="Canva Sans"/>
                <a:ea typeface="Canva Sans"/>
                <a:cs typeface="Canva Sans"/>
                <a:sym typeface="Canva Sans"/>
              </a:rPr>
              <a:t>e or </a:t>
            </a: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signals detected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00101" y="7580908"/>
            <a:ext cx="48990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35C7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classification updates automatically as new activity events come in.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84976" y="3744448"/>
            <a:ext cx="212660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Classify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97826" y="3679593"/>
            <a:ext cx="184606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Explain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945600" cy="2419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SYSTEM ARCHITECTURE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47239" y="1028700"/>
            <a:ext cx="0" cy="9258300"/>
          </a:xfrm>
          <a:prstGeom prst="line">
            <a:avLst/>
          </a:prstGeom>
          <a:ln cap="flat" w="9525">
            <a:solidFill>
              <a:srgbClr val="000000">
                <a:alpha val="57647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082355" y="1333865"/>
            <a:ext cx="2887244" cy="8767362"/>
          </a:xfrm>
          <a:custGeom>
            <a:avLst/>
            <a:gdLst/>
            <a:ahLst/>
            <a:cxnLst/>
            <a:rect r="r" b="b" t="t" l="l"/>
            <a:pathLst>
              <a:path h="8767362" w="2887244">
                <a:moveTo>
                  <a:pt x="0" y="0"/>
                </a:moveTo>
                <a:lnTo>
                  <a:pt x="2887244" y="0"/>
                </a:lnTo>
                <a:lnTo>
                  <a:pt x="2887244" y="8767362"/>
                </a:lnTo>
                <a:lnTo>
                  <a:pt x="0" y="8767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200982"/>
            <a:ext cx="14891842" cy="8917649"/>
          </a:xfrm>
          <a:custGeom>
            <a:avLst/>
            <a:gdLst/>
            <a:ahLst/>
            <a:cxnLst/>
            <a:rect r="r" b="b" t="t" l="l"/>
            <a:pathLst>
              <a:path h="8917649" w="14891842">
                <a:moveTo>
                  <a:pt x="0" y="0"/>
                </a:moveTo>
                <a:lnTo>
                  <a:pt x="14891842" y="0"/>
                </a:lnTo>
                <a:lnTo>
                  <a:pt x="14891842" y="8917650"/>
                </a:lnTo>
                <a:lnTo>
                  <a:pt x="0" y="8917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146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9487" y="372210"/>
            <a:ext cx="11469026" cy="1008915"/>
            <a:chOff x="0" y="0"/>
            <a:chExt cx="3020649" cy="265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0649" cy="265722"/>
            </a:xfrm>
            <a:custGeom>
              <a:avLst/>
              <a:gdLst/>
              <a:ahLst/>
              <a:cxnLst/>
              <a:rect r="r" b="b" t="t" l="l"/>
              <a:pathLst>
                <a:path h="265722" w="3020649">
                  <a:moveTo>
                    <a:pt x="34426" y="0"/>
                  </a:moveTo>
                  <a:lnTo>
                    <a:pt x="2986222" y="0"/>
                  </a:lnTo>
                  <a:cubicBezTo>
                    <a:pt x="2995353" y="0"/>
                    <a:pt x="3004109" y="3627"/>
                    <a:pt x="3010565" y="10083"/>
                  </a:cubicBezTo>
                  <a:cubicBezTo>
                    <a:pt x="3017022" y="16539"/>
                    <a:pt x="3020649" y="25296"/>
                    <a:pt x="3020649" y="34426"/>
                  </a:cubicBezTo>
                  <a:lnTo>
                    <a:pt x="3020649" y="231296"/>
                  </a:lnTo>
                  <a:cubicBezTo>
                    <a:pt x="3020649" y="240426"/>
                    <a:pt x="3017022" y="249183"/>
                    <a:pt x="3010565" y="255639"/>
                  </a:cubicBezTo>
                  <a:cubicBezTo>
                    <a:pt x="3004109" y="262095"/>
                    <a:pt x="2995353" y="265722"/>
                    <a:pt x="2986222" y="265722"/>
                  </a:cubicBezTo>
                  <a:lnTo>
                    <a:pt x="34426" y="265722"/>
                  </a:lnTo>
                  <a:cubicBezTo>
                    <a:pt x="25296" y="265722"/>
                    <a:pt x="16539" y="262095"/>
                    <a:pt x="10083" y="255639"/>
                  </a:cubicBezTo>
                  <a:cubicBezTo>
                    <a:pt x="3627" y="249183"/>
                    <a:pt x="0" y="240426"/>
                    <a:pt x="0" y="231296"/>
                  </a:cubicBezTo>
                  <a:lnTo>
                    <a:pt x="0" y="34426"/>
                  </a:lnTo>
                  <a:cubicBezTo>
                    <a:pt x="0" y="25296"/>
                    <a:pt x="3627" y="16539"/>
                    <a:pt x="10083" y="10083"/>
                  </a:cubicBezTo>
                  <a:cubicBezTo>
                    <a:pt x="16539" y="3627"/>
                    <a:pt x="25296" y="0"/>
                    <a:pt x="34426" y="0"/>
                  </a:cubicBezTo>
                  <a:close/>
                </a:path>
              </a:pathLst>
            </a:custGeom>
            <a:solidFill>
              <a:srgbClr val="2250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20649" cy="38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941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5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TECHNICAL METHODOLOGY: DETECTION PIPELINE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2095" y="1445020"/>
            <a:ext cx="1652381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343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ENTITY RESOLUT</a:t>
            </a:r>
            <a:r>
              <a:rPr lang="en-US" b="true" sz="2343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ION PIPELINE</a:t>
            </a:r>
          </a:p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sz="2343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UBID matches business records across departments using a 4-step pipeline - from cleaning raw data to assigning a final ID.</a:t>
            </a:r>
          </a:p>
          <a:p>
            <a:pPr algn="ctr">
              <a:lnSpc>
                <a:spcPts val="2812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211058" y="2253786"/>
            <a:ext cx="3865883" cy="271435"/>
            <a:chOff x="0" y="0"/>
            <a:chExt cx="5154511" cy="3619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0719"/>
              <a:ext cx="5120640" cy="340419"/>
            </a:xfrm>
            <a:custGeom>
              <a:avLst/>
              <a:gdLst/>
              <a:ahLst/>
              <a:cxnLst/>
              <a:rect r="r" b="b" t="t" l="l"/>
              <a:pathLst>
                <a:path h="34041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0419"/>
                  </a:lnTo>
                  <a:lnTo>
                    <a:pt x="0" y="34041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4422" cy="361858"/>
            </a:xfrm>
            <a:custGeom>
              <a:avLst/>
              <a:gdLst/>
              <a:ahLst/>
              <a:cxnLst/>
              <a:rect r="r" b="b" t="t" l="l"/>
              <a:pathLst>
                <a:path h="361858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4836"/>
                    <a:pt x="5154422" y="10719"/>
                  </a:cubicBezTo>
                  <a:lnTo>
                    <a:pt x="5154422" y="351138"/>
                  </a:lnTo>
                  <a:cubicBezTo>
                    <a:pt x="5154422" y="357102"/>
                    <a:pt x="5146802" y="361857"/>
                    <a:pt x="5137531" y="361857"/>
                  </a:cubicBezTo>
                  <a:lnTo>
                    <a:pt x="16891" y="361857"/>
                  </a:lnTo>
                  <a:cubicBezTo>
                    <a:pt x="7620" y="361951"/>
                    <a:pt x="0" y="357102"/>
                    <a:pt x="0" y="351138"/>
                  </a:cubicBezTo>
                  <a:lnTo>
                    <a:pt x="0" y="10719"/>
                  </a:lnTo>
                  <a:cubicBezTo>
                    <a:pt x="0" y="4836"/>
                    <a:pt x="7620" y="0"/>
                    <a:pt x="16891" y="0"/>
                  </a:cubicBezTo>
                  <a:moveTo>
                    <a:pt x="16891" y="21518"/>
                  </a:moveTo>
                  <a:lnTo>
                    <a:pt x="16891" y="10719"/>
                  </a:lnTo>
                  <a:lnTo>
                    <a:pt x="33909" y="10719"/>
                  </a:lnTo>
                  <a:lnTo>
                    <a:pt x="33909" y="351138"/>
                  </a:lnTo>
                  <a:lnTo>
                    <a:pt x="16891" y="351138"/>
                  </a:lnTo>
                  <a:lnTo>
                    <a:pt x="16891" y="340419"/>
                  </a:lnTo>
                  <a:lnTo>
                    <a:pt x="5137531" y="340419"/>
                  </a:lnTo>
                  <a:lnTo>
                    <a:pt x="5137531" y="351138"/>
                  </a:lnTo>
                  <a:lnTo>
                    <a:pt x="5120640" y="351138"/>
                  </a:lnTo>
                  <a:lnTo>
                    <a:pt x="5120640" y="10719"/>
                  </a:lnTo>
                  <a:lnTo>
                    <a:pt x="5137531" y="10719"/>
                  </a:lnTo>
                  <a:lnTo>
                    <a:pt x="5137531" y="21518"/>
                  </a:lnTo>
                  <a:lnTo>
                    <a:pt x="16891" y="21518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223760" y="2188336"/>
            <a:ext cx="3840480" cy="402336"/>
            <a:chOff x="0" y="0"/>
            <a:chExt cx="5120640" cy="5364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536448"/>
            </a:xfrm>
            <a:custGeom>
              <a:avLst/>
              <a:gdLst/>
              <a:ahLst/>
              <a:cxnLst/>
              <a:rect r="r" b="b" t="t" l="l"/>
              <a:pathLst>
                <a:path h="5364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120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200">
                  <a:solidFill>
                    <a:srgbClr val="F3F9FB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MATCHING LAYERS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508755" y="2590672"/>
          <a:ext cx="15316200" cy="2359025"/>
        </p:xfrm>
        <a:graphic>
          <a:graphicData uri="http://schemas.openxmlformats.org/drawingml/2006/table">
            <a:tbl>
              <a:tblPr/>
              <a:tblGrid>
                <a:gridCol w="2556886"/>
                <a:gridCol w="3370669"/>
                <a:gridCol w="3189828"/>
                <a:gridCol w="4998235"/>
                <a:gridCol w="1200581"/>
              </a:tblGrid>
              <a:tr h="487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Layer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1F1F1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1F1F1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Technology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1F1F1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What it Matches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1F1F1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Speed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</a:tr>
              <a:tr h="467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Exact ID Match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PAN / GSTIN exact lookup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PostgreSQL index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Same business with a federal 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&lt; 1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Name Similarity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Fuzzy match on cleaned names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RapidFuzz (token sort ratio)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Same business with name spelling variations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~ 20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467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Address Match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PIN code + locality comparison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Custom normaliser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Same business at the same location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~ 30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ML Scoring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XGBoost binary classifier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XGBoost + SHAP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Ambiguous records with partial or missing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~ 50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511292" y="5113859"/>
            <a:ext cx="8346443" cy="519179"/>
            <a:chOff x="0" y="0"/>
            <a:chExt cx="11128591" cy="6922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28501" cy="692152"/>
            </a:xfrm>
            <a:custGeom>
              <a:avLst/>
              <a:gdLst/>
              <a:ahLst/>
              <a:cxnLst/>
              <a:rect r="r" b="b" t="t" l="l"/>
              <a:pathLst>
                <a:path h="69215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75259"/>
                  </a:lnTo>
                  <a:cubicBezTo>
                    <a:pt x="11128501" y="684657"/>
                    <a:pt x="11120882" y="692150"/>
                    <a:pt x="11111611" y="692150"/>
                  </a:cubicBezTo>
                  <a:lnTo>
                    <a:pt x="16891" y="692150"/>
                  </a:lnTo>
                  <a:cubicBezTo>
                    <a:pt x="7620" y="692277"/>
                    <a:pt x="0" y="684657"/>
                    <a:pt x="0" y="675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5259"/>
                  </a:lnTo>
                  <a:lnTo>
                    <a:pt x="16891" y="675259"/>
                  </a:lnTo>
                  <a:lnTo>
                    <a:pt x="16891" y="658368"/>
                  </a:lnTo>
                  <a:lnTo>
                    <a:pt x="11111611" y="658368"/>
                  </a:lnTo>
                  <a:lnTo>
                    <a:pt x="11111611" y="675259"/>
                  </a:lnTo>
                  <a:lnTo>
                    <a:pt x="11094720" y="67525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23989" y="5126556"/>
            <a:ext cx="8321040" cy="493776"/>
            <a:chOff x="0" y="0"/>
            <a:chExt cx="11094720" cy="658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09472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60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CONFIDENCE SCORE DISTRIBUTION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0575" y="5632019"/>
            <a:ext cx="2743200" cy="512064"/>
            <a:chOff x="0" y="0"/>
            <a:chExt cx="365760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PAN / GSTIN Match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86655" y="5747338"/>
            <a:ext cx="4505963" cy="263147"/>
            <a:chOff x="0" y="0"/>
            <a:chExt cx="6007951" cy="3508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5974080" cy="316992"/>
            </a:xfrm>
            <a:custGeom>
              <a:avLst/>
              <a:gdLst/>
              <a:ahLst/>
              <a:cxnLst/>
              <a:rect r="r" b="b" t="t" l="l"/>
              <a:pathLst>
                <a:path h="3169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07862" cy="350776"/>
            </a:xfrm>
            <a:custGeom>
              <a:avLst/>
              <a:gdLst/>
              <a:ahLst/>
              <a:cxnLst/>
              <a:rect r="r" b="b" t="t" l="l"/>
              <a:pathLst>
                <a:path h="350776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333883"/>
                  </a:lnTo>
                  <a:cubicBezTo>
                    <a:pt x="6007862" y="343281"/>
                    <a:pt x="6000242" y="350774"/>
                    <a:pt x="59909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5990971" y="316992"/>
                  </a:lnTo>
                  <a:lnTo>
                    <a:pt x="5990971" y="333883"/>
                  </a:lnTo>
                  <a:lnTo>
                    <a:pt x="5974080" y="333883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486655" y="5747338"/>
            <a:ext cx="4505963" cy="263147"/>
            <a:chOff x="0" y="0"/>
            <a:chExt cx="6007951" cy="3508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974080" cy="316992"/>
            </a:xfrm>
            <a:custGeom>
              <a:avLst/>
              <a:gdLst/>
              <a:ahLst/>
              <a:cxnLst/>
              <a:rect r="r" b="b" t="t" l="l"/>
              <a:pathLst>
                <a:path h="3169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07862" cy="350776"/>
            </a:xfrm>
            <a:custGeom>
              <a:avLst/>
              <a:gdLst/>
              <a:ahLst/>
              <a:cxnLst/>
              <a:rect r="r" b="b" t="t" l="l"/>
              <a:pathLst>
                <a:path h="350776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333883"/>
                  </a:lnTo>
                  <a:cubicBezTo>
                    <a:pt x="6007862" y="343281"/>
                    <a:pt x="6000242" y="350774"/>
                    <a:pt x="59909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5990971" y="316992"/>
                  </a:lnTo>
                  <a:lnTo>
                    <a:pt x="5990971" y="333883"/>
                  </a:lnTo>
                  <a:lnTo>
                    <a:pt x="5974080" y="333883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034776" y="5632019"/>
            <a:ext cx="822960" cy="512064"/>
            <a:chOff x="0" y="0"/>
            <a:chExt cx="109728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35%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60575" y="6144083"/>
            <a:ext cx="2743200" cy="512064"/>
            <a:chOff x="0" y="0"/>
            <a:chExt cx="365760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Name Similarity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86655" y="6259402"/>
            <a:ext cx="4505963" cy="263147"/>
            <a:chOff x="0" y="0"/>
            <a:chExt cx="6007951" cy="3508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974080" cy="316992"/>
            </a:xfrm>
            <a:custGeom>
              <a:avLst/>
              <a:gdLst/>
              <a:ahLst/>
              <a:cxnLst/>
              <a:rect r="r" b="b" t="t" l="l"/>
              <a:pathLst>
                <a:path h="3169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07862" cy="350776"/>
            </a:xfrm>
            <a:custGeom>
              <a:avLst/>
              <a:gdLst/>
              <a:ahLst/>
              <a:cxnLst/>
              <a:rect r="r" b="b" t="t" l="l"/>
              <a:pathLst>
                <a:path h="350776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333883"/>
                  </a:lnTo>
                  <a:cubicBezTo>
                    <a:pt x="6007862" y="343281"/>
                    <a:pt x="6000242" y="350774"/>
                    <a:pt x="59909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5990971" y="316992"/>
                  </a:lnTo>
                  <a:lnTo>
                    <a:pt x="5990971" y="333883"/>
                  </a:lnTo>
                  <a:lnTo>
                    <a:pt x="5974080" y="333883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486655" y="6259402"/>
            <a:ext cx="3225803" cy="263147"/>
            <a:chOff x="0" y="0"/>
            <a:chExt cx="4301071" cy="3508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267200" cy="316992"/>
            </a:xfrm>
            <a:custGeom>
              <a:avLst/>
              <a:gdLst/>
              <a:ahLst/>
              <a:cxnLst/>
              <a:rect r="r" b="b" t="t" l="l"/>
              <a:pathLst>
                <a:path h="3169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00982" cy="350776"/>
            </a:xfrm>
            <a:custGeom>
              <a:avLst/>
              <a:gdLst/>
              <a:ahLst/>
              <a:cxnLst/>
              <a:rect r="r" b="b" t="t" l="l"/>
              <a:pathLst>
                <a:path h="350776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33883"/>
                  </a:lnTo>
                  <a:cubicBezTo>
                    <a:pt x="4300982" y="343281"/>
                    <a:pt x="4293362" y="350774"/>
                    <a:pt x="428409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4284091" y="316992"/>
                  </a:lnTo>
                  <a:lnTo>
                    <a:pt x="4284091" y="333883"/>
                  </a:lnTo>
                  <a:lnTo>
                    <a:pt x="4267200" y="333883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034776" y="6144083"/>
            <a:ext cx="822960" cy="512064"/>
            <a:chOff x="0" y="0"/>
            <a:chExt cx="109728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b="true">
                  <a:solidFill>
                    <a:srgbClr val="3B82F6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25%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60575" y="6656147"/>
            <a:ext cx="2743200" cy="512064"/>
            <a:chOff x="0" y="0"/>
            <a:chExt cx="365760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Address Match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486655" y="6771466"/>
            <a:ext cx="4505963" cy="263147"/>
            <a:chOff x="0" y="0"/>
            <a:chExt cx="6007951" cy="3508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974080" cy="316992"/>
            </a:xfrm>
            <a:custGeom>
              <a:avLst/>
              <a:gdLst/>
              <a:ahLst/>
              <a:cxnLst/>
              <a:rect r="r" b="b" t="t" l="l"/>
              <a:pathLst>
                <a:path h="3169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07862" cy="350776"/>
            </a:xfrm>
            <a:custGeom>
              <a:avLst/>
              <a:gdLst/>
              <a:ahLst/>
              <a:cxnLst/>
              <a:rect r="r" b="b" t="t" l="l"/>
              <a:pathLst>
                <a:path h="350776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333883"/>
                  </a:lnTo>
                  <a:cubicBezTo>
                    <a:pt x="6007862" y="343281"/>
                    <a:pt x="6000242" y="350774"/>
                    <a:pt x="59909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5990971" y="316992"/>
                  </a:lnTo>
                  <a:lnTo>
                    <a:pt x="5990971" y="333883"/>
                  </a:lnTo>
                  <a:lnTo>
                    <a:pt x="5974080" y="333883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486655" y="6771466"/>
            <a:ext cx="2585723" cy="263147"/>
            <a:chOff x="0" y="0"/>
            <a:chExt cx="3447631" cy="3508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3413760" cy="316992"/>
            </a:xfrm>
            <a:custGeom>
              <a:avLst/>
              <a:gdLst/>
              <a:ahLst/>
              <a:cxnLst/>
              <a:rect r="r" b="b" t="t" l="l"/>
              <a:pathLst>
                <a:path h="3169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47542" cy="350776"/>
            </a:xfrm>
            <a:custGeom>
              <a:avLst/>
              <a:gdLst/>
              <a:ahLst/>
              <a:cxnLst/>
              <a:rect r="r" b="b" t="t" l="l"/>
              <a:pathLst>
                <a:path h="350776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333883"/>
                  </a:lnTo>
                  <a:cubicBezTo>
                    <a:pt x="3447542" y="343281"/>
                    <a:pt x="3439922" y="350774"/>
                    <a:pt x="343065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3430651" y="316992"/>
                  </a:lnTo>
                  <a:lnTo>
                    <a:pt x="3430651" y="333883"/>
                  </a:lnTo>
                  <a:lnTo>
                    <a:pt x="3413760" y="333883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034776" y="6656147"/>
            <a:ext cx="822960" cy="512064"/>
            <a:chOff x="0" y="0"/>
            <a:chExt cx="109728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97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b="true">
                  <a:solidFill>
                    <a:srgbClr val="8B5CF6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20%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60575" y="7168211"/>
            <a:ext cx="2743200" cy="512064"/>
            <a:chOff x="0" y="0"/>
            <a:chExt cx="365760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Phone / Email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486655" y="7283530"/>
            <a:ext cx="4505963" cy="263147"/>
            <a:chOff x="0" y="0"/>
            <a:chExt cx="6007951" cy="35086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974080" cy="316992"/>
            </a:xfrm>
            <a:custGeom>
              <a:avLst/>
              <a:gdLst/>
              <a:ahLst/>
              <a:cxnLst/>
              <a:rect r="r" b="b" t="t" l="l"/>
              <a:pathLst>
                <a:path h="3169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07862" cy="350776"/>
            </a:xfrm>
            <a:custGeom>
              <a:avLst/>
              <a:gdLst/>
              <a:ahLst/>
              <a:cxnLst/>
              <a:rect r="r" b="b" t="t" l="l"/>
              <a:pathLst>
                <a:path h="350776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333883"/>
                  </a:lnTo>
                  <a:cubicBezTo>
                    <a:pt x="6007862" y="343281"/>
                    <a:pt x="6000242" y="350774"/>
                    <a:pt x="59909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5990971" y="316992"/>
                  </a:lnTo>
                  <a:lnTo>
                    <a:pt x="5990971" y="333883"/>
                  </a:lnTo>
                  <a:lnTo>
                    <a:pt x="5974080" y="333883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486655" y="7283530"/>
            <a:ext cx="1305563" cy="263147"/>
            <a:chOff x="0" y="0"/>
            <a:chExt cx="1740751" cy="35086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706880" cy="316992"/>
            </a:xfrm>
            <a:custGeom>
              <a:avLst/>
              <a:gdLst/>
              <a:ahLst/>
              <a:cxnLst/>
              <a:rect r="r" b="b" t="t" l="l"/>
              <a:pathLst>
                <a:path h="31699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40662" cy="350776"/>
            </a:xfrm>
            <a:custGeom>
              <a:avLst/>
              <a:gdLst/>
              <a:ahLst/>
              <a:cxnLst/>
              <a:rect r="r" b="b" t="t" l="l"/>
              <a:pathLst>
                <a:path h="350776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3883"/>
                  </a:lnTo>
                  <a:cubicBezTo>
                    <a:pt x="1740662" y="343281"/>
                    <a:pt x="1733042" y="350774"/>
                    <a:pt x="17237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1723771" y="316992"/>
                  </a:lnTo>
                  <a:lnTo>
                    <a:pt x="1723771" y="333883"/>
                  </a:lnTo>
                  <a:lnTo>
                    <a:pt x="1706880" y="333883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034776" y="7168211"/>
            <a:ext cx="822960" cy="512064"/>
            <a:chOff x="0" y="0"/>
            <a:chExt cx="109728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b="true">
                  <a:solidFill>
                    <a:srgbClr val="F59E0B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10%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60575" y="7680275"/>
            <a:ext cx="2743200" cy="512064"/>
            <a:chOff x="0" y="0"/>
            <a:chExt cx="365760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ML Classifier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486655" y="7795594"/>
            <a:ext cx="4505963" cy="263147"/>
            <a:chOff x="0" y="0"/>
            <a:chExt cx="6007951" cy="35086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5974080" cy="316992"/>
            </a:xfrm>
            <a:custGeom>
              <a:avLst/>
              <a:gdLst/>
              <a:ahLst/>
              <a:cxnLst/>
              <a:rect r="r" b="b" t="t" l="l"/>
              <a:pathLst>
                <a:path h="3169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07862" cy="350776"/>
            </a:xfrm>
            <a:custGeom>
              <a:avLst/>
              <a:gdLst/>
              <a:ahLst/>
              <a:cxnLst/>
              <a:rect r="r" b="b" t="t" l="l"/>
              <a:pathLst>
                <a:path h="350776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333883"/>
                  </a:lnTo>
                  <a:cubicBezTo>
                    <a:pt x="6007862" y="343281"/>
                    <a:pt x="6000242" y="350774"/>
                    <a:pt x="59909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5990971" y="316992"/>
                  </a:lnTo>
                  <a:lnTo>
                    <a:pt x="5990971" y="333883"/>
                  </a:lnTo>
                  <a:lnTo>
                    <a:pt x="5974080" y="333883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3486655" y="7795594"/>
            <a:ext cx="1305563" cy="263147"/>
            <a:chOff x="0" y="0"/>
            <a:chExt cx="1740751" cy="35086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706880" cy="316992"/>
            </a:xfrm>
            <a:custGeom>
              <a:avLst/>
              <a:gdLst/>
              <a:ahLst/>
              <a:cxnLst/>
              <a:rect r="r" b="b" t="t" l="l"/>
              <a:pathLst>
                <a:path h="31699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40662" cy="350776"/>
            </a:xfrm>
            <a:custGeom>
              <a:avLst/>
              <a:gdLst/>
              <a:ahLst/>
              <a:cxnLst/>
              <a:rect r="r" b="b" t="t" l="l"/>
              <a:pathLst>
                <a:path h="350776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3883"/>
                  </a:lnTo>
                  <a:cubicBezTo>
                    <a:pt x="1740662" y="343281"/>
                    <a:pt x="1733042" y="350774"/>
                    <a:pt x="1723771" y="350774"/>
                  </a:cubicBezTo>
                  <a:lnTo>
                    <a:pt x="16891" y="350774"/>
                  </a:lnTo>
                  <a:cubicBezTo>
                    <a:pt x="7620" y="350901"/>
                    <a:pt x="0" y="343281"/>
                    <a:pt x="0" y="333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16891" y="316992"/>
                  </a:lnTo>
                  <a:lnTo>
                    <a:pt x="1723771" y="316992"/>
                  </a:lnTo>
                  <a:lnTo>
                    <a:pt x="1723771" y="333883"/>
                  </a:lnTo>
                  <a:lnTo>
                    <a:pt x="1706880" y="333883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034776" y="7680275"/>
            <a:ext cx="822960" cy="512064"/>
            <a:chOff x="0" y="0"/>
            <a:chExt cx="109728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97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b="true">
                  <a:solidFill>
                    <a:srgbClr val="EF4444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10%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18818" y="8278064"/>
            <a:ext cx="7980683" cy="391163"/>
            <a:chOff x="0" y="0"/>
            <a:chExt cx="10640911" cy="5215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0607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BF4F7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40822" cy="521464"/>
            </a:xfrm>
            <a:custGeom>
              <a:avLst/>
              <a:gdLst/>
              <a:ahLst/>
              <a:cxnLst/>
              <a:rect r="r" b="b" t="t" l="l"/>
              <a:pathLst>
                <a:path h="52146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04571"/>
                  </a:lnTo>
                  <a:cubicBezTo>
                    <a:pt x="10640822" y="513969"/>
                    <a:pt x="10633202" y="521462"/>
                    <a:pt x="1062393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623931" y="487680"/>
                  </a:lnTo>
                  <a:lnTo>
                    <a:pt x="10623931" y="504571"/>
                  </a:lnTo>
                  <a:lnTo>
                    <a:pt x="10607040" y="50457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8E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31515" y="8290761"/>
            <a:ext cx="7955280" cy="365760"/>
            <a:chOff x="0" y="0"/>
            <a:chExt cx="10607040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607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799" r="0" b="-37379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6070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160">
                  <a:solidFill>
                    <a:srgbClr val="1E2761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CONFIDENCE BANDS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18818" y="8680400"/>
            <a:ext cx="7980683" cy="391163"/>
            <a:chOff x="0" y="0"/>
            <a:chExt cx="10640911" cy="5215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0607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40822" cy="521464"/>
            </a:xfrm>
            <a:custGeom>
              <a:avLst/>
              <a:gdLst/>
              <a:ahLst/>
              <a:cxnLst/>
              <a:rect r="r" b="b" t="t" l="l"/>
              <a:pathLst>
                <a:path h="52146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04571"/>
                  </a:lnTo>
                  <a:cubicBezTo>
                    <a:pt x="10640822" y="513969"/>
                    <a:pt x="10633202" y="521462"/>
                    <a:pt x="1062393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623931" y="487680"/>
                  </a:lnTo>
                  <a:lnTo>
                    <a:pt x="10623931" y="504571"/>
                  </a:lnTo>
                  <a:lnTo>
                    <a:pt x="10607040" y="50457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3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22955" y="8693097"/>
            <a:ext cx="1371600" cy="365760"/>
            <a:chOff x="0" y="0"/>
            <a:chExt cx="1828800" cy="4876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28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828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90 – 100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273298" y="8735264"/>
            <a:ext cx="1397003" cy="281435"/>
            <a:chOff x="0" y="0"/>
            <a:chExt cx="1862671" cy="37524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121920"/>
                  </a:moveTo>
                  <a:cubicBezTo>
                    <a:pt x="0" y="54610"/>
                    <a:pt x="58928" y="0"/>
                    <a:pt x="131572" y="0"/>
                  </a:cubicBezTo>
                  <a:lnTo>
                    <a:pt x="1697228" y="0"/>
                  </a:lnTo>
                  <a:cubicBezTo>
                    <a:pt x="1769872" y="0"/>
                    <a:pt x="1828800" y="54610"/>
                    <a:pt x="1828800" y="121920"/>
                  </a:cubicBezTo>
                  <a:lnTo>
                    <a:pt x="1828800" y="219456"/>
                  </a:lnTo>
                  <a:cubicBezTo>
                    <a:pt x="1828800" y="286766"/>
                    <a:pt x="1769872" y="341376"/>
                    <a:pt x="1697228" y="341376"/>
                  </a:cubicBezTo>
                  <a:lnTo>
                    <a:pt x="131572" y="341376"/>
                  </a:lnTo>
                  <a:cubicBezTo>
                    <a:pt x="58928" y="341376"/>
                    <a:pt x="0" y="286766"/>
                    <a:pt x="0" y="219456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62582" cy="375158"/>
            </a:xfrm>
            <a:custGeom>
              <a:avLst/>
              <a:gdLst/>
              <a:ahLst/>
              <a:cxnLst/>
              <a:rect r="r" b="b" t="t" l="l"/>
              <a:pathLst>
                <a:path h="375158" w="1862582">
                  <a:moveTo>
                    <a:pt x="0" y="138811"/>
                  </a:moveTo>
                  <a:cubicBezTo>
                    <a:pt x="0" y="60960"/>
                    <a:pt x="67691" y="0"/>
                    <a:pt x="148463" y="0"/>
                  </a:cubicBezTo>
                  <a:lnTo>
                    <a:pt x="1714119" y="0"/>
                  </a:lnTo>
                  <a:lnTo>
                    <a:pt x="1714119" y="16891"/>
                  </a:lnTo>
                  <a:lnTo>
                    <a:pt x="1714119" y="0"/>
                  </a:lnTo>
                  <a:cubicBezTo>
                    <a:pt x="1794891" y="0"/>
                    <a:pt x="1862582" y="60960"/>
                    <a:pt x="1862582" y="138811"/>
                  </a:cubicBezTo>
                  <a:lnTo>
                    <a:pt x="1845691" y="138811"/>
                  </a:lnTo>
                  <a:lnTo>
                    <a:pt x="1862582" y="138811"/>
                  </a:lnTo>
                  <a:lnTo>
                    <a:pt x="1862582" y="236347"/>
                  </a:lnTo>
                  <a:lnTo>
                    <a:pt x="1845691" y="236347"/>
                  </a:lnTo>
                  <a:lnTo>
                    <a:pt x="1862582" y="236347"/>
                  </a:lnTo>
                  <a:cubicBezTo>
                    <a:pt x="1862582" y="314198"/>
                    <a:pt x="1794891" y="375158"/>
                    <a:pt x="1714119" y="375158"/>
                  </a:cubicBezTo>
                  <a:lnTo>
                    <a:pt x="1714119" y="358267"/>
                  </a:lnTo>
                  <a:lnTo>
                    <a:pt x="1714119" y="375158"/>
                  </a:lnTo>
                  <a:lnTo>
                    <a:pt x="148463" y="375158"/>
                  </a:lnTo>
                  <a:lnTo>
                    <a:pt x="148463" y="358267"/>
                  </a:lnTo>
                  <a:lnTo>
                    <a:pt x="148463" y="375158"/>
                  </a:lnTo>
                  <a:cubicBezTo>
                    <a:pt x="67691" y="375285"/>
                    <a:pt x="0" y="314325"/>
                    <a:pt x="0" y="23634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236347"/>
                  </a:lnTo>
                  <a:lnTo>
                    <a:pt x="16891" y="236347"/>
                  </a:lnTo>
                  <a:lnTo>
                    <a:pt x="33909" y="236347"/>
                  </a:lnTo>
                  <a:cubicBezTo>
                    <a:pt x="33909" y="293116"/>
                    <a:pt x="83947" y="341376"/>
                    <a:pt x="148590" y="341376"/>
                  </a:cubicBezTo>
                  <a:lnTo>
                    <a:pt x="1714119" y="341376"/>
                  </a:lnTo>
                  <a:cubicBezTo>
                    <a:pt x="1778635" y="341376"/>
                    <a:pt x="1828800" y="293243"/>
                    <a:pt x="1828800" y="236347"/>
                  </a:cubicBezTo>
                  <a:lnTo>
                    <a:pt x="1828800" y="138811"/>
                  </a:lnTo>
                  <a:cubicBezTo>
                    <a:pt x="1828800" y="82042"/>
                    <a:pt x="1778762" y="33782"/>
                    <a:pt x="1714119" y="33782"/>
                  </a:cubicBezTo>
                  <a:lnTo>
                    <a:pt x="148463" y="33782"/>
                  </a:lnTo>
                  <a:lnTo>
                    <a:pt x="148463" y="16891"/>
                  </a:lnTo>
                  <a:lnTo>
                    <a:pt x="148463" y="33909"/>
                  </a:lnTo>
                  <a:cubicBezTo>
                    <a:pt x="83947" y="33909"/>
                    <a:pt x="33782" y="82042"/>
                    <a:pt x="33782" y="138938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285995" y="8747961"/>
            <a:ext cx="1371600" cy="256032"/>
            <a:chOff x="0" y="0"/>
            <a:chExt cx="1828800" cy="34137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828800" cy="36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AUTO LINK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749035" y="8693097"/>
            <a:ext cx="4754880" cy="365760"/>
            <a:chOff x="0" y="0"/>
            <a:chExt cx="6339840" cy="4876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6339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Instantly linked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18818" y="9046160"/>
            <a:ext cx="7980683" cy="391163"/>
            <a:chOff x="0" y="0"/>
            <a:chExt cx="10640911" cy="52155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0607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3F9FB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640822" cy="521464"/>
            </a:xfrm>
            <a:custGeom>
              <a:avLst/>
              <a:gdLst/>
              <a:ahLst/>
              <a:cxnLst/>
              <a:rect r="r" b="b" t="t" l="l"/>
              <a:pathLst>
                <a:path h="52146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04571"/>
                  </a:lnTo>
                  <a:cubicBezTo>
                    <a:pt x="10640822" y="513969"/>
                    <a:pt x="10633202" y="521462"/>
                    <a:pt x="1062393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623931" y="487680"/>
                  </a:lnTo>
                  <a:lnTo>
                    <a:pt x="10623931" y="504571"/>
                  </a:lnTo>
                  <a:lnTo>
                    <a:pt x="10607040" y="50457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3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22955" y="9058857"/>
            <a:ext cx="1371600" cy="365760"/>
            <a:chOff x="0" y="0"/>
            <a:chExt cx="1828800" cy="4876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28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828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70 – 89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2273298" y="9101024"/>
            <a:ext cx="1397003" cy="281435"/>
            <a:chOff x="0" y="0"/>
            <a:chExt cx="1862671" cy="37524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121920"/>
                  </a:moveTo>
                  <a:cubicBezTo>
                    <a:pt x="0" y="54610"/>
                    <a:pt x="58928" y="0"/>
                    <a:pt x="131572" y="0"/>
                  </a:cubicBezTo>
                  <a:lnTo>
                    <a:pt x="1697228" y="0"/>
                  </a:lnTo>
                  <a:cubicBezTo>
                    <a:pt x="1769872" y="0"/>
                    <a:pt x="1828800" y="54610"/>
                    <a:pt x="1828800" y="121920"/>
                  </a:cubicBezTo>
                  <a:lnTo>
                    <a:pt x="1828800" y="219456"/>
                  </a:lnTo>
                  <a:cubicBezTo>
                    <a:pt x="1828800" y="286766"/>
                    <a:pt x="1769872" y="341376"/>
                    <a:pt x="1697228" y="341376"/>
                  </a:cubicBezTo>
                  <a:lnTo>
                    <a:pt x="131572" y="341376"/>
                  </a:lnTo>
                  <a:cubicBezTo>
                    <a:pt x="58928" y="341376"/>
                    <a:pt x="0" y="286766"/>
                    <a:pt x="0" y="21945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862582" cy="375158"/>
            </a:xfrm>
            <a:custGeom>
              <a:avLst/>
              <a:gdLst/>
              <a:ahLst/>
              <a:cxnLst/>
              <a:rect r="r" b="b" t="t" l="l"/>
              <a:pathLst>
                <a:path h="375158" w="1862582">
                  <a:moveTo>
                    <a:pt x="0" y="138811"/>
                  </a:moveTo>
                  <a:cubicBezTo>
                    <a:pt x="0" y="60960"/>
                    <a:pt x="67691" y="0"/>
                    <a:pt x="148463" y="0"/>
                  </a:cubicBezTo>
                  <a:lnTo>
                    <a:pt x="1714119" y="0"/>
                  </a:lnTo>
                  <a:lnTo>
                    <a:pt x="1714119" y="16891"/>
                  </a:lnTo>
                  <a:lnTo>
                    <a:pt x="1714119" y="0"/>
                  </a:lnTo>
                  <a:cubicBezTo>
                    <a:pt x="1794891" y="0"/>
                    <a:pt x="1862582" y="60960"/>
                    <a:pt x="1862582" y="138811"/>
                  </a:cubicBezTo>
                  <a:lnTo>
                    <a:pt x="1845691" y="138811"/>
                  </a:lnTo>
                  <a:lnTo>
                    <a:pt x="1862582" y="138811"/>
                  </a:lnTo>
                  <a:lnTo>
                    <a:pt x="1862582" y="236347"/>
                  </a:lnTo>
                  <a:lnTo>
                    <a:pt x="1845691" y="236347"/>
                  </a:lnTo>
                  <a:lnTo>
                    <a:pt x="1862582" y="236347"/>
                  </a:lnTo>
                  <a:cubicBezTo>
                    <a:pt x="1862582" y="314198"/>
                    <a:pt x="1794891" y="375158"/>
                    <a:pt x="1714119" y="375158"/>
                  </a:cubicBezTo>
                  <a:lnTo>
                    <a:pt x="1714119" y="358267"/>
                  </a:lnTo>
                  <a:lnTo>
                    <a:pt x="1714119" y="375158"/>
                  </a:lnTo>
                  <a:lnTo>
                    <a:pt x="148463" y="375158"/>
                  </a:lnTo>
                  <a:lnTo>
                    <a:pt x="148463" y="358267"/>
                  </a:lnTo>
                  <a:lnTo>
                    <a:pt x="148463" y="375158"/>
                  </a:lnTo>
                  <a:cubicBezTo>
                    <a:pt x="67691" y="375285"/>
                    <a:pt x="0" y="314325"/>
                    <a:pt x="0" y="23634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236347"/>
                  </a:lnTo>
                  <a:lnTo>
                    <a:pt x="16891" y="236347"/>
                  </a:lnTo>
                  <a:lnTo>
                    <a:pt x="33909" y="236347"/>
                  </a:lnTo>
                  <a:cubicBezTo>
                    <a:pt x="33909" y="293116"/>
                    <a:pt x="83947" y="341376"/>
                    <a:pt x="148590" y="341376"/>
                  </a:cubicBezTo>
                  <a:lnTo>
                    <a:pt x="1714119" y="341376"/>
                  </a:lnTo>
                  <a:cubicBezTo>
                    <a:pt x="1778635" y="341376"/>
                    <a:pt x="1828800" y="293243"/>
                    <a:pt x="1828800" y="236347"/>
                  </a:cubicBezTo>
                  <a:lnTo>
                    <a:pt x="1828800" y="138811"/>
                  </a:lnTo>
                  <a:cubicBezTo>
                    <a:pt x="1828800" y="82042"/>
                    <a:pt x="1778762" y="33782"/>
                    <a:pt x="1714119" y="33782"/>
                  </a:cubicBezTo>
                  <a:lnTo>
                    <a:pt x="148463" y="33782"/>
                  </a:lnTo>
                  <a:lnTo>
                    <a:pt x="148463" y="16891"/>
                  </a:lnTo>
                  <a:lnTo>
                    <a:pt x="148463" y="33909"/>
                  </a:lnTo>
                  <a:cubicBezTo>
                    <a:pt x="83947" y="33909"/>
                    <a:pt x="33782" y="82042"/>
                    <a:pt x="33782" y="13893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2285995" y="9113721"/>
            <a:ext cx="1371600" cy="256032"/>
            <a:chOff x="0" y="0"/>
            <a:chExt cx="1828800" cy="34137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1828800" cy="36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HIGH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3749035" y="9058857"/>
            <a:ext cx="4754880" cy="365760"/>
            <a:chOff x="0" y="0"/>
            <a:chExt cx="6339840" cy="4876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339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Auto link with log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18818" y="9411920"/>
            <a:ext cx="7980683" cy="391163"/>
            <a:chOff x="0" y="0"/>
            <a:chExt cx="10640911" cy="52155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10607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640822" cy="521464"/>
            </a:xfrm>
            <a:custGeom>
              <a:avLst/>
              <a:gdLst/>
              <a:ahLst/>
              <a:cxnLst/>
              <a:rect r="r" b="b" t="t" l="l"/>
              <a:pathLst>
                <a:path h="52146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04571"/>
                  </a:lnTo>
                  <a:cubicBezTo>
                    <a:pt x="10640822" y="513969"/>
                    <a:pt x="10633202" y="521462"/>
                    <a:pt x="1062393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623931" y="487680"/>
                  </a:lnTo>
                  <a:lnTo>
                    <a:pt x="10623931" y="504571"/>
                  </a:lnTo>
                  <a:lnTo>
                    <a:pt x="10607040" y="50457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3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22955" y="9424617"/>
            <a:ext cx="1371600" cy="365760"/>
            <a:chOff x="0" y="0"/>
            <a:chExt cx="1828800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828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828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55 – 69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2273298" y="9466784"/>
            <a:ext cx="1397003" cy="281435"/>
            <a:chOff x="0" y="0"/>
            <a:chExt cx="1862671" cy="37524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121920"/>
                  </a:moveTo>
                  <a:cubicBezTo>
                    <a:pt x="0" y="54610"/>
                    <a:pt x="58928" y="0"/>
                    <a:pt x="131572" y="0"/>
                  </a:cubicBezTo>
                  <a:lnTo>
                    <a:pt x="1697228" y="0"/>
                  </a:lnTo>
                  <a:cubicBezTo>
                    <a:pt x="1769872" y="0"/>
                    <a:pt x="1828800" y="54610"/>
                    <a:pt x="1828800" y="121920"/>
                  </a:cubicBezTo>
                  <a:lnTo>
                    <a:pt x="1828800" y="219456"/>
                  </a:lnTo>
                  <a:cubicBezTo>
                    <a:pt x="1828800" y="286766"/>
                    <a:pt x="1769872" y="341376"/>
                    <a:pt x="1697228" y="341376"/>
                  </a:cubicBezTo>
                  <a:lnTo>
                    <a:pt x="131572" y="341376"/>
                  </a:lnTo>
                  <a:cubicBezTo>
                    <a:pt x="58928" y="341376"/>
                    <a:pt x="0" y="286766"/>
                    <a:pt x="0" y="219456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62582" cy="375158"/>
            </a:xfrm>
            <a:custGeom>
              <a:avLst/>
              <a:gdLst/>
              <a:ahLst/>
              <a:cxnLst/>
              <a:rect r="r" b="b" t="t" l="l"/>
              <a:pathLst>
                <a:path h="375158" w="1862582">
                  <a:moveTo>
                    <a:pt x="0" y="138811"/>
                  </a:moveTo>
                  <a:cubicBezTo>
                    <a:pt x="0" y="60960"/>
                    <a:pt x="67691" y="0"/>
                    <a:pt x="148463" y="0"/>
                  </a:cubicBezTo>
                  <a:lnTo>
                    <a:pt x="1714119" y="0"/>
                  </a:lnTo>
                  <a:lnTo>
                    <a:pt x="1714119" y="16891"/>
                  </a:lnTo>
                  <a:lnTo>
                    <a:pt x="1714119" y="0"/>
                  </a:lnTo>
                  <a:cubicBezTo>
                    <a:pt x="1794891" y="0"/>
                    <a:pt x="1862582" y="60960"/>
                    <a:pt x="1862582" y="138811"/>
                  </a:cubicBezTo>
                  <a:lnTo>
                    <a:pt x="1845691" y="138811"/>
                  </a:lnTo>
                  <a:lnTo>
                    <a:pt x="1862582" y="138811"/>
                  </a:lnTo>
                  <a:lnTo>
                    <a:pt x="1862582" y="236347"/>
                  </a:lnTo>
                  <a:lnTo>
                    <a:pt x="1845691" y="236347"/>
                  </a:lnTo>
                  <a:lnTo>
                    <a:pt x="1862582" y="236347"/>
                  </a:lnTo>
                  <a:cubicBezTo>
                    <a:pt x="1862582" y="314198"/>
                    <a:pt x="1794891" y="375158"/>
                    <a:pt x="1714119" y="375158"/>
                  </a:cubicBezTo>
                  <a:lnTo>
                    <a:pt x="1714119" y="358267"/>
                  </a:lnTo>
                  <a:lnTo>
                    <a:pt x="1714119" y="375158"/>
                  </a:lnTo>
                  <a:lnTo>
                    <a:pt x="148463" y="375158"/>
                  </a:lnTo>
                  <a:lnTo>
                    <a:pt x="148463" y="358267"/>
                  </a:lnTo>
                  <a:lnTo>
                    <a:pt x="148463" y="375158"/>
                  </a:lnTo>
                  <a:cubicBezTo>
                    <a:pt x="67691" y="375285"/>
                    <a:pt x="0" y="314325"/>
                    <a:pt x="0" y="23634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236347"/>
                  </a:lnTo>
                  <a:lnTo>
                    <a:pt x="16891" y="236347"/>
                  </a:lnTo>
                  <a:lnTo>
                    <a:pt x="33909" y="236347"/>
                  </a:lnTo>
                  <a:cubicBezTo>
                    <a:pt x="33909" y="293116"/>
                    <a:pt x="83947" y="341376"/>
                    <a:pt x="148590" y="341376"/>
                  </a:cubicBezTo>
                  <a:lnTo>
                    <a:pt x="1714119" y="341376"/>
                  </a:lnTo>
                  <a:cubicBezTo>
                    <a:pt x="1778635" y="341376"/>
                    <a:pt x="1828800" y="293243"/>
                    <a:pt x="1828800" y="236347"/>
                  </a:cubicBezTo>
                  <a:lnTo>
                    <a:pt x="1828800" y="138811"/>
                  </a:lnTo>
                  <a:cubicBezTo>
                    <a:pt x="1828800" y="82042"/>
                    <a:pt x="1778762" y="33782"/>
                    <a:pt x="1714119" y="33782"/>
                  </a:cubicBezTo>
                  <a:lnTo>
                    <a:pt x="148463" y="33782"/>
                  </a:lnTo>
                  <a:lnTo>
                    <a:pt x="148463" y="16891"/>
                  </a:lnTo>
                  <a:lnTo>
                    <a:pt x="148463" y="33909"/>
                  </a:lnTo>
                  <a:cubicBezTo>
                    <a:pt x="83947" y="33909"/>
                    <a:pt x="33782" y="82042"/>
                    <a:pt x="33782" y="138938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2285995" y="9479481"/>
            <a:ext cx="1371600" cy="256032"/>
            <a:chOff x="0" y="0"/>
            <a:chExt cx="1828800" cy="34137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1828800" cy="36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REVIEW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3749035" y="9424617"/>
            <a:ext cx="4754880" cy="365760"/>
            <a:chOff x="0" y="0"/>
            <a:chExt cx="6339840" cy="48768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6339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Sent to human officer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18818" y="9777680"/>
            <a:ext cx="7980683" cy="391163"/>
            <a:chOff x="0" y="0"/>
            <a:chExt cx="10640911" cy="52155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6891" y="16891"/>
              <a:ext cx="10607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3F9FB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640822" cy="521464"/>
            </a:xfrm>
            <a:custGeom>
              <a:avLst/>
              <a:gdLst/>
              <a:ahLst/>
              <a:cxnLst/>
              <a:rect r="r" b="b" t="t" l="l"/>
              <a:pathLst>
                <a:path h="52146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04571"/>
                  </a:lnTo>
                  <a:cubicBezTo>
                    <a:pt x="10640822" y="513969"/>
                    <a:pt x="10633202" y="521462"/>
                    <a:pt x="1062393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623931" y="487680"/>
                  </a:lnTo>
                  <a:lnTo>
                    <a:pt x="10623931" y="504571"/>
                  </a:lnTo>
                  <a:lnTo>
                    <a:pt x="10607040" y="50457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3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822955" y="9790377"/>
            <a:ext cx="1371600" cy="365760"/>
            <a:chOff x="0" y="0"/>
            <a:chExt cx="1828800" cy="48768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828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828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0 – 54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2273298" y="9832544"/>
            <a:ext cx="1397003" cy="281435"/>
            <a:chOff x="0" y="0"/>
            <a:chExt cx="1862671" cy="37524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121920"/>
                  </a:moveTo>
                  <a:cubicBezTo>
                    <a:pt x="0" y="54610"/>
                    <a:pt x="58928" y="0"/>
                    <a:pt x="131572" y="0"/>
                  </a:cubicBezTo>
                  <a:lnTo>
                    <a:pt x="1697228" y="0"/>
                  </a:lnTo>
                  <a:cubicBezTo>
                    <a:pt x="1769872" y="0"/>
                    <a:pt x="1828800" y="54610"/>
                    <a:pt x="1828800" y="121920"/>
                  </a:cubicBezTo>
                  <a:lnTo>
                    <a:pt x="1828800" y="219456"/>
                  </a:lnTo>
                  <a:cubicBezTo>
                    <a:pt x="1828800" y="286766"/>
                    <a:pt x="1769872" y="341376"/>
                    <a:pt x="1697228" y="341376"/>
                  </a:cubicBezTo>
                  <a:lnTo>
                    <a:pt x="131572" y="341376"/>
                  </a:lnTo>
                  <a:cubicBezTo>
                    <a:pt x="58928" y="341376"/>
                    <a:pt x="0" y="286766"/>
                    <a:pt x="0" y="21945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862582" cy="375158"/>
            </a:xfrm>
            <a:custGeom>
              <a:avLst/>
              <a:gdLst/>
              <a:ahLst/>
              <a:cxnLst/>
              <a:rect r="r" b="b" t="t" l="l"/>
              <a:pathLst>
                <a:path h="375158" w="1862582">
                  <a:moveTo>
                    <a:pt x="0" y="138811"/>
                  </a:moveTo>
                  <a:cubicBezTo>
                    <a:pt x="0" y="60960"/>
                    <a:pt x="67691" y="0"/>
                    <a:pt x="148463" y="0"/>
                  </a:cubicBezTo>
                  <a:lnTo>
                    <a:pt x="1714119" y="0"/>
                  </a:lnTo>
                  <a:lnTo>
                    <a:pt x="1714119" y="16891"/>
                  </a:lnTo>
                  <a:lnTo>
                    <a:pt x="1714119" y="0"/>
                  </a:lnTo>
                  <a:cubicBezTo>
                    <a:pt x="1794891" y="0"/>
                    <a:pt x="1862582" y="60960"/>
                    <a:pt x="1862582" y="138811"/>
                  </a:cubicBezTo>
                  <a:lnTo>
                    <a:pt x="1845691" y="138811"/>
                  </a:lnTo>
                  <a:lnTo>
                    <a:pt x="1862582" y="138811"/>
                  </a:lnTo>
                  <a:lnTo>
                    <a:pt x="1862582" y="236347"/>
                  </a:lnTo>
                  <a:lnTo>
                    <a:pt x="1845691" y="236347"/>
                  </a:lnTo>
                  <a:lnTo>
                    <a:pt x="1862582" y="236347"/>
                  </a:lnTo>
                  <a:cubicBezTo>
                    <a:pt x="1862582" y="314198"/>
                    <a:pt x="1794891" y="375158"/>
                    <a:pt x="1714119" y="375158"/>
                  </a:cubicBezTo>
                  <a:lnTo>
                    <a:pt x="1714119" y="358267"/>
                  </a:lnTo>
                  <a:lnTo>
                    <a:pt x="1714119" y="375158"/>
                  </a:lnTo>
                  <a:lnTo>
                    <a:pt x="148463" y="375158"/>
                  </a:lnTo>
                  <a:lnTo>
                    <a:pt x="148463" y="358267"/>
                  </a:lnTo>
                  <a:lnTo>
                    <a:pt x="148463" y="375158"/>
                  </a:lnTo>
                  <a:cubicBezTo>
                    <a:pt x="67691" y="375285"/>
                    <a:pt x="0" y="314325"/>
                    <a:pt x="0" y="23634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236347"/>
                  </a:lnTo>
                  <a:lnTo>
                    <a:pt x="16891" y="236347"/>
                  </a:lnTo>
                  <a:lnTo>
                    <a:pt x="33909" y="236347"/>
                  </a:lnTo>
                  <a:cubicBezTo>
                    <a:pt x="33909" y="293116"/>
                    <a:pt x="83947" y="341376"/>
                    <a:pt x="148590" y="341376"/>
                  </a:cubicBezTo>
                  <a:lnTo>
                    <a:pt x="1714119" y="341376"/>
                  </a:lnTo>
                  <a:cubicBezTo>
                    <a:pt x="1778635" y="341376"/>
                    <a:pt x="1828800" y="293243"/>
                    <a:pt x="1828800" y="236347"/>
                  </a:cubicBezTo>
                  <a:lnTo>
                    <a:pt x="1828800" y="138811"/>
                  </a:lnTo>
                  <a:cubicBezTo>
                    <a:pt x="1828800" y="82042"/>
                    <a:pt x="1778762" y="33782"/>
                    <a:pt x="1714119" y="33782"/>
                  </a:cubicBezTo>
                  <a:lnTo>
                    <a:pt x="148463" y="33782"/>
                  </a:lnTo>
                  <a:lnTo>
                    <a:pt x="148463" y="16891"/>
                  </a:lnTo>
                  <a:lnTo>
                    <a:pt x="148463" y="33909"/>
                  </a:lnTo>
                  <a:cubicBezTo>
                    <a:pt x="83947" y="33909"/>
                    <a:pt x="33782" y="82042"/>
                    <a:pt x="33782" y="138938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2285995" y="9845241"/>
            <a:ext cx="1371600" cy="256032"/>
            <a:chOff x="0" y="0"/>
            <a:chExt cx="1828800" cy="34137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828800" cy="341376"/>
            </a:xfrm>
            <a:custGeom>
              <a:avLst/>
              <a:gdLst/>
              <a:ahLst/>
              <a:cxnLst/>
              <a:rect r="r" b="b" t="t" l="l"/>
              <a:pathLst>
                <a:path h="34137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1828800" cy="36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REJECT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3749035" y="9790377"/>
            <a:ext cx="4754880" cy="365760"/>
            <a:chOff x="0" y="0"/>
            <a:chExt cx="6339840" cy="48768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6339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Kept as separate businesses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405618" y="5146627"/>
            <a:ext cx="8346443" cy="5022216"/>
            <a:chOff x="0" y="0"/>
            <a:chExt cx="11128591" cy="669628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4801"/>
              <a:ext cx="11094720" cy="6666607"/>
            </a:xfrm>
            <a:custGeom>
              <a:avLst/>
              <a:gdLst/>
              <a:ahLst/>
              <a:cxnLst/>
              <a:rect r="r" b="b" t="t" l="l"/>
              <a:pathLst>
                <a:path h="6666607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666607"/>
                  </a:lnTo>
                  <a:lnTo>
                    <a:pt x="0" y="666660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1128501" cy="6696210"/>
            </a:xfrm>
            <a:custGeom>
              <a:avLst/>
              <a:gdLst/>
              <a:ahLst/>
              <a:cxnLst/>
              <a:rect r="r" b="b" t="t" l="l"/>
              <a:pathLst>
                <a:path h="6696210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6677"/>
                    <a:pt x="11128501" y="14801"/>
                  </a:cubicBezTo>
                  <a:lnTo>
                    <a:pt x="11128501" y="6681408"/>
                  </a:lnTo>
                  <a:cubicBezTo>
                    <a:pt x="11128501" y="6689644"/>
                    <a:pt x="11120882" y="6696210"/>
                    <a:pt x="11111611" y="6696210"/>
                  </a:cubicBezTo>
                  <a:lnTo>
                    <a:pt x="16891" y="6696210"/>
                  </a:lnTo>
                  <a:cubicBezTo>
                    <a:pt x="7493" y="6696210"/>
                    <a:pt x="0" y="6689532"/>
                    <a:pt x="0" y="6681408"/>
                  </a:cubicBezTo>
                  <a:lnTo>
                    <a:pt x="0" y="14801"/>
                  </a:lnTo>
                  <a:cubicBezTo>
                    <a:pt x="0" y="6677"/>
                    <a:pt x="7620" y="0"/>
                    <a:pt x="16891" y="0"/>
                  </a:cubicBezTo>
                  <a:moveTo>
                    <a:pt x="16891" y="29714"/>
                  </a:moveTo>
                  <a:lnTo>
                    <a:pt x="16891" y="14801"/>
                  </a:lnTo>
                  <a:lnTo>
                    <a:pt x="33909" y="14801"/>
                  </a:lnTo>
                  <a:lnTo>
                    <a:pt x="33909" y="6681408"/>
                  </a:lnTo>
                  <a:lnTo>
                    <a:pt x="16891" y="6681408"/>
                  </a:lnTo>
                  <a:lnTo>
                    <a:pt x="16891" y="6666607"/>
                  </a:lnTo>
                  <a:lnTo>
                    <a:pt x="11111611" y="6666607"/>
                  </a:lnTo>
                  <a:lnTo>
                    <a:pt x="11111611" y="6681408"/>
                  </a:lnTo>
                  <a:lnTo>
                    <a:pt x="11094720" y="6681408"/>
                  </a:lnTo>
                  <a:lnTo>
                    <a:pt x="11094720" y="14801"/>
                  </a:lnTo>
                  <a:lnTo>
                    <a:pt x="11111611" y="14801"/>
                  </a:lnTo>
                  <a:lnTo>
                    <a:pt x="11111611" y="29714"/>
                  </a:lnTo>
                  <a:lnTo>
                    <a:pt x="16891" y="29714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05618" y="5092572"/>
            <a:ext cx="8346443" cy="519179"/>
            <a:chOff x="0" y="0"/>
            <a:chExt cx="11128591" cy="692239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6891" y="16891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E2EEF3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1128501" cy="692152"/>
            </a:xfrm>
            <a:custGeom>
              <a:avLst/>
              <a:gdLst/>
              <a:ahLst/>
              <a:cxnLst/>
              <a:rect r="r" b="b" t="t" l="l"/>
              <a:pathLst>
                <a:path h="69215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75259"/>
                  </a:lnTo>
                  <a:cubicBezTo>
                    <a:pt x="11128501" y="684657"/>
                    <a:pt x="11120882" y="692150"/>
                    <a:pt x="11111611" y="692150"/>
                  </a:cubicBezTo>
                  <a:lnTo>
                    <a:pt x="16891" y="692150"/>
                  </a:lnTo>
                  <a:cubicBezTo>
                    <a:pt x="7620" y="692277"/>
                    <a:pt x="0" y="684657"/>
                    <a:pt x="0" y="675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5259"/>
                  </a:lnTo>
                  <a:lnTo>
                    <a:pt x="16891" y="675259"/>
                  </a:lnTo>
                  <a:lnTo>
                    <a:pt x="16891" y="658368"/>
                  </a:lnTo>
                  <a:lnTo>
                    <a:pt x="11111611" y="658368"/>
                  </a:lnTo>
                  <a:lnTo>
                    <a:pt x="11111611" y="675259"/>
                  </a:lnTo>
                  <a:lnTo>
                    <a:pt x="11094720" y="67525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3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509755" y="5092572"/>
            <a:ext cx="8321040" cy="493776"/>
            <a:chOff x="0" y="0"/>
            <a:chExt cx="11094720" cy="65836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1109472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b="true" sz="1799" spc="191">
                  <a:solidFill>
                    <a:srgbClr val="1F1F1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MATCH DECISION RULES</a:t>
              </a:r>
            </a:p>
          </p:txBody>
        </p:sp>
      </p:grpSp>
      <p:graphicFrame>
        <p:nvGraphicFramePr>
          <p:cNvPr name="Table 157" id="157"/>
          <p:cNvGraphicFramePr>
            <a:graphicFrameLocks noGrp="true"/>
          </p:cNvGraphicFramePr>
          <p:nvPr/>
        </p:nvGraphicFramePr>
        <p:xfrm>
          <a:off x="9509755" y="5707964"/>
          <a:ext cx="8204200" cy="4415641"/>
        </p:xfrm>
        <a:graphic>
          <a:graphicData uri="http://schemas.openxmlformats.org/drawingml/2006/table">
            <a:tbl>
              <a:tblPr/>
              <a:tblGrid>
                <a:gridCol w="2192805"/>
                <a:gridCol w="3366984"/>
                <a:gridCol w="2644412"/>
              </a:tblGrid>
              <a:tr h="486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Rule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0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Trigger Condition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0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Meaning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070"/>
                    </a:solidFill>
                  </a:tcPr>
                </a:tc>
              </a:tr>
              <a:tr h="785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PAN Anchor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Exact PAN found in 2+ systems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Instant link — confidence 1.0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GSTIN Anchor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Same GSTIN root across systems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Auto linked, flagged if PAN absent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785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Name Conflict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Same name, different address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Sent to review queue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Duplicate within Dept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Same business registered twice in one dept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Merged before cross-dept linking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7858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Escalation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Reviewer flags as complex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Routed to senior officer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9487" y="372210"/>
            <a:ext cx="11469026" cy="1008915"/>
            <a:chOff x="0" y="0"/>
            <a:chExt cx="3020649" cy="265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0649" cy="265722"/>
            </a:xfrm>
            <a:custGeom>
              <a:avLst/>
              <a:gdLst/>
              <a:ahLst/>
              <a:cxnLst/>
              <a:rect r="r" b="b" t="t" l="l"/>
              <a:pathLst>
                <a:path h="265722" w="3020649">
                  <a:moveTo>
                    <a:pt x="34426" y="0"/>
                  </a:moveTo>
                  <a:lnTo>
                    <a:pt x="2986222" y="0"/>
                  </a:lnTo>
                  <a:cubicBezTo>
                    <a:pt x="2995353" y="0"/>
                    <a:pt x="3004109" y="3627"/>
                    <a:pt x="3010565" y="10083"/>
                  </a:cubicBezTo>
                  <a:cubicBezTo>
                    <a:pt x="3017022" y="16539"/>
                    <a:pt x="3020649" y="25296"/>
                    <a:pt x="3020649" y="34426"/>
                  </a:cubicBezTo>
                  <a:lnTo>
                    <a:pt x="3020649" y="231296"/>
                  </a:lnTo>
                  <a:cubicBezTo>
                    <a:pt x="3020649" y="240426"/>
                    <a:pt x="3017022" y="249183"/>
                    <a:pt x="3010565" y="255639"/>
                  </a:cubicBezTo>
                  <a:cubicBezTo>
                    <a:pt x="3004109" y="262095"/>
                    <a:pt x="2995353" y="265722"/>
                    <a:pt x="2986222" y="265722"/>
                  </a:cubicBezTo>
                  <a:lnTo>
                    <a:pt x="34426" y="265722"/>
                  </a:lnTo>
                  <a:cubicBezTo>
                    <a:pt x="25296" y="265722"/>
                    <a:pt x="16539" y="262095"/>
                    <a:pt x="10083" y="255639"/>
                  </a:cubicBezTo>
                  <a:cubicBezTo>
                    <a:pt x="3627" y="249183"/>
                    <a:pt x="0" y="240426"/>
                    <a:pt x="0" y="231296"/>
                  </a:cubicBezTo>
                  <a:lnTo>
                    <a:pt x="0" y="34426"/>
                  </a:lnTo>
                  <a:cubicBezTo>
                    <a:pt x="0" y="25296"/>
                    <a:pt x="3627" y="16539"/>
                    <a:pt x="10083" y="10083"/>
                  </a:cubicBezTo>
                  <a:cubicBezTo>
                    <a:pt x="16539" y="3627"/>
                    <a:pt x="25296" y="0"/>
                    <a:pt x="34426" y="0"/>
                  </a:cubicBezTo>
                  <a:close/>
                </a:path>
              </a:pathLst>
            </a:custGeom>
            <a:solidFill>
              <a:srgbClr val="2250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20649" cy="38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941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1945600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TECHNICAL METHODOLOGY: SELF-EVOLUTION ENGINE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76645" y="2830460"/>
            <a:ext cx="5360916" cy="3223563"/>
            <a:chOff x="0" y="0"/>
            <a:chExt cx="135171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1719" cy="812800"/>
            </a:xfrm>
            <a:custGeom>
              <a:avLst/>
              <a:gdLst/>
              <a:ahLst/>
              <a:cxnLst/>
              <a:rect r="r" b="b" t="t" l="l"/>
              <a:pathLst>
                <a:path h="812800" w="1351719">
                  <a:moveTo>
                    <a:pt x="675860" y="0"/>
                  </a:moveTo>
                  <a:cubicBezTo>
                    <a:pt x="302593" y="0"/>
                    <a:pt x="0" y="181951"/>
                    <a:pt x="0" y="406400"/>
                  </a:cubicBezTo>
                  <a:cubicBezTo>
                    <a:pt x="0" y="630849"/>
                    <a:pt x="302593" y="812800"/>
                    <a:pt x="675860" y="812800"/>
                  </a:cubicBezTo>
                  <a:cubicBezTo>
                    <a:pt x="1049127" y="812800"/>
                    <a:pt x="1351719" y="630849"/>
                    <a:pt x="1351719" y="406400"/>
                  </a:cubicBezTo>
                  <a:cubicBezTo>
                    <a:pt x="1351719" y="181951"/>
                    <a:pt x="1049127" y="0"/>
                    <a:pt x="675860" y="0"/>
                  </a:cubicBez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6724" y="66675"/>
              <a:ext cx="1098272" cy="669925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56239" y="2910055"/>
            <a:ext cx="5201728" cy="3064375"/>
            <a:chOff x="0" y="0"/>
            <a:chExt cx="1311581" cy="772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1581" cy="772662"/>
            </a:xfrm>
            <a:custGeom>
              <a:avLst/>
              <a:gdLst/>
              <a:ahLst/>
              <a:cxnLst/>
              <a:rect r="r" b="b" t="t" l="l"/>
              <a:pathLst>
                <a:path h="772662" w="1311581">
                  <a:moveTo>
                    <a:pt x="655791" y="0"/>
                  </a:moveTo>
                  <a:cubicBezTo>
                    <a:pt x="293607" y="0"/>
                    <a:pt x="0" y="172966"/>
                    <a:pt x="0" y="386331"/>
                  </a:cubicBezTo>
                  <a:cubicBezTo>
                    <a:pt x="0" y="599696"/>
                    <a:pt x="293607" y="772662"/>
                    <a:pt x="655791" y="772662"/>
                  </a:cubicBezTo>
                  <a:cubicBezTo>
                    <a:pt x="1017974" y="772662"/>
                    <a:pt x="1311581" y="599696"/>
                    <a:pt x="1311581" y="386331"/>
                  </a:cubicBezTo>
                  <a:cubicBezTo>
                    <a:pt x="1311581" y="172966"/>
                    <a:pt x="1017974" y="0"/>
                    <a:pt x="655791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2961" y="62912"/>
              <a:ext cx="1065660" cy="637313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1666987"/>
            <a:ext cx="4266463" cy="2775255"/>
            <a:chOff x="0" y="0"/>
            <a:chExt cx="644292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4292" cy="419100"/>
            </a:xfrm>
            <a:custGeom>
              <a:avLst/>
              <a:gdLst/>
              <a:ahLst/>
              <a:cxnLst/>
              <a:rect r="r" b="b" t="t" l="l"/>
              <a:pathLst>
                <a:path h="419100" w="644292">
                  <a:moveTo>
                    <a:pt x="0" y="0"/>
                  </a:moveTo>
                  <a:lnTo>
                    <a:pt x="644292" y="0"/>
                  </a:lnTo>
                  <a:lnTo>
                    <a:pt x="644292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44292" cy="428625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7812" y="2141559"/>
            <a:ext cx="4200948" cy="2265922"/>
            <a:chOff x="0" y="0"/>
            <a:chExt cx="625813" cy="3375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5813" cy="337553"/>
            </a:xfrm>
            <a:custGeom>
              <a:avLst/>
              <a:gdLst/>
              <a:ahLst/>
              <a:cxnLst/>
              <a:rect r="r" b="b" t="t" l="l"/>
              <a:pathLst>
                <a:path h="337553" w="625813">
                  <a:moveTo>
                    <a:pt x="0" y="0"/>
                  </a:moveTo>
                  <a:lnTo>
                    <a:pt x="625813" y="0"/>
                  </a:lnTo>
                  <a:lnTo>
                    <a:pt x="625813" y="337553"/>
                  </a:lnTo>
                  <a:lnTo>
                    <a:pt x="0" y="337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25813" cy="347078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0752" y="5068055"/>
            <a:ext cx="4266463" cy="2775255"/>
            <a:chOff x="0" y="0"/>
            <a:chExt cx="644292" cy="419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4292" cy="419100"/>
            </a:xfrm>
            <a:custGeom>
              <a:avLst/>
              <a:gdLst/>
              <a:ahLst/>
              <a:cxnLst/>
              <a:rect r="r" b="b" t="t" l="l"/>
              <a:pathLst>
                <a:path h="419100" w="644292">
                  <a:moveTo>
                    <a:pt x="0" y="0"/>
                  </a:moveTo>
                  <a:lnTo>
                    <a:pt x="644292" y="0"/>
                  </a:lnTo>
                  <a:lnTo>
                    <a:pt x="644292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44292" cy="428625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34163" y="5542627"/>
            <a:ext cx="4200948" cy="2265922"/>
            <a:chOff x="0" y="0"/>
            <a:chExt cx="625813" cy="3375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5813" cy="337553"/>
            </a:xfrm>
            <a:custGeom>
              <a:avLst/>
              <a:gdLst/>
              <a:ahLst/>
              <a:cxnLst/>
              <a:rect r="r" b="b" t="t" l="l"/>
              <a:pathLst>
                <a:path h="337553" w="625813">
                  <a:moveTo>
                    <a:pt x="0" y="0"/>
                  </a:moveTo>
                  <a:lnTo>
                    <a:pt x="625813" y="0"/>
                  </a:lnTo>
                  <a:lnTo>
                    <a:pt x="625813" y="337553"/>
                  </a:lnTo>
                  <a:lnTo>
                    <a:pt x="0" y="337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25813" cy="347078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49647" y="1666987"/>
            <a:ext cx="4266463" cy="2775255"/>
            <a:chOff x="0" y="0"/>
            <a:chExt cx="644292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4292" cy="419100"/>
            </a:xfrm>
            <a:custGeom>
              <a:avLst/>
              <a:gdLst/>
              <a:ahLst/>
              <a:cxnLst/>
              <a:rect r="r" b="b" t="t" l="l"/>
              <a:pathLst>
                <a:path h="419100" w="644292">
                  <a:moveTo>
                    <a:pt x="0" y="0"/>
                  </a:moveTo>
                  <a:lnTo>
                    <a:pt x="644292" y="0"/>
                  </a:lnTo>
                  <a:lnTo>
                    <a:pt x="644292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44292" cy="428625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83059" y="2141559"/>
            <a:ext cx="4200948" cy="2265922"/>
            <a:chOff x="0" y="0"/>
            <a:chExt cx="625813" cy="3375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5813" cy="337553"/>
            </a:xfrm>
            <a:custGeom>
              <a:avLst/>
              <a:gdLst/>
              <a:ahLst/>
              <a:cxnLst/>
              <a:rect r="r" b="b" t="t" l="l"/>
              <a:pathLst>
                <a:path h="337553" w="625813">
                  <a:moveTo>
                    <a:pt x="0" y="0"/>
                  </a:moveTo>
                  <a:lnTo>
                    <a:pt x="625813" y="0"/>
                  </a:lnTo>
                  <a:lnTo>
                    <a:pt x="625813" y="337553"/>
                  </a:lnTo>
                  <a:lnTo>
                    <a:pt x="0" y="337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25813" cy="347078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23871" y="6689689"/>
            <a:ext cx="4266463" cy="2775255"/>
            <a:chOff x="0" y="0"/>
            <a:chExt cx="644292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4292" cy="419100"/>
            </a:xfrm>
            <a:custGeom>
              <a:avLst/>
              <a:gdLst/>
              <a:ahLst/>
              <a:cxnLst/>
              <a:rect r="r" b="b" t="t" l="l"/>
              <a:pathLst>
                <a:path h="419100" w="644292">
                  <a:moveTo>
                    <a:pt x="0" y="0"/>
                  </a:moveTo>
                  <a:lnTo>
                    <a:pt x="644292" y="0"/>
                  </a:lnTo>
                  <a:lnTo>
                    <a:pt x="644292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44292" cy="428625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57283" y="7164261"/>
            <a:ext cx="4200948" cy="2265922"/>
            <a:chOff x="0" y="0"/>
            <a:chExt cx="625813" cy="3375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5813" cy="337553"/>
            </a:xfrm>
            <a:custGeom>
              <a:avLst/>
              <a:gdLst/>
              <a:ahLst/>
              <a:cxnLst/>
              <a:rect r="r" b="b" t="t" l="l"/>
              <a:pathLst>
                <a:path h="337553" w="625813">
                  <a:moveTo>
                    <a:pt x="0" y="0"/>
                  </a:moveTo>
                  <a:lnTo>
                    <a:pt x="625813" y="0"/>
                  </a:lnTo>
                  <a:lnTo>
                    <a:pt x="625813" y="337553"/>
                  </a:lnTo>
                  <a:lnTo>
                    <a:pt x="0" y="337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25813" cy="347078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43959" y="5068055"/>
            <a:ext cx="4266463" cy="2775255"/>
            <a:chOff x="0" y="0"/>
            <a:chExt cx="644292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4292" cy="419100"/>
            </a:xfrm>
            <a:custGeom>
              <a:avLst/>
              <a:gdLst/>
              <a:ahLst/>
              <a:cxnLst/>
              <a:rect r="r" b="b" t="t" l="l"/>
              <a:pathLst>
                <a:path h="419100" w="644292">
                  <a:moveTo>
                    <a:pt x="0" y="0"/>
                  </a:moveTo>
                  <a:lnTo>
                    <a:pt x="644292" y="0"/>
                  </a:lnTo>
                  <a:lnTo>
                    <a:pt x="644292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35C7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44292" cy="428625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77371" y="5542627"/>
            <a:ext cx="4200948" cy="2265922"/>
            <a:chOff x="0" y="0"/>
            <a:chExt cx="625813" cy="3375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5813" cy="337553"/>
            </a:xfrm>
            <a:custGeom>
              <a:avLst/>
              <a:gdLst/>
              <a:ahLst/>
              <a:cxnLst/>
              <a:rect r="r" b="b" t="t" l="l"/>
              <a:pathLst>
                <a:path h="337553" w="625813">
                  <a:moveTo>
                    <a:pt x="0" y="0"/>
                  </a:moveTo>
                  <a:lnTo>
                    <a:pt x="625813" y="0"/>
                  </a:lnTo>
                  <a:lnTo>
                    <a:pt x="625813" y="337553"/>
                  </a:lnTo>
                  <a:lnTo>
                    <a:pt x="0" y="337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25813" cy="347078"/>
            </a:xfrm>
            <a:prstGeom prst="rect">
              <a:avLst/>
            </a:prstGeom>
          </p:spPr>
          <p:txBody>
            <a:bodyPr anchor="ctr" rtlCol="false" tIns="53063" lIns="53063" bIns="53063" rIns="53063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783951" y="4662256"/>
            <a:ext cx="4546303" cy="76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  <a:spcBef>
                <a:spcPct val="0"/>
              </a:spcBef>
            </a:pPr>
            <a:r>
              <a:rPr lang="en-US" sz="1566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Continuously learns from reviewer decisions and automatically improves matching accuracy, confidence thresholds, and the AI model.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07049" y="3399819"/>
            <a:ext cx="4700108" cy="120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7"/>
              </a:lnSpc>
              <a:spcBef>
                <a:spcPct val="0"/>
              </a:spcBef>
            </a:pPr>
            <a:r>
              <a:rPr lang="en-US" b="true" sz="3655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SELF-EVOLVING AGENT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7003" y="1686404"/>
            <a:ext cx="2918749" cy="37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Rule Refinement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67370" y="5087472"/>
            <a:ext cx="2125412" cy="37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</a:t>
            </a: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reshold Tuning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61944" y="6709106"/>
            <a:ext cx="2941352" cy="37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W</a:t>
            </a: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eight Adjustment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12195" y="5087472"/>
            <a:ext cx="2193814" cy="37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Model Retraining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70625" y="1709037"/>
            <a:ext cx="2572010" cy="37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b="true" sz="2134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Validation &amp; Rollback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7700" y="2131520"/>
            <a:ext cx="4081173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b="true" sz="1461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Trigger:</a:t>
            </a:r>
            <a:r>
              <a:rPr lang="en-US" sz="1461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A new type of business name mismatch is confirmed by reviewer.</a:t>
            </a:r>
          </a:p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b="true" sz="1461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Process:</a:t>
            </a:r>
          </a:p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sz="1461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•System analyses the failed match pattern </a:t>
            </a:r>
          </a:p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sz="1461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Generates a new normalisation rule automatically</a:t>
            </a:r>
          </a:p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sz="1461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· Tested on existing records before deployment </a:t>
            </a:r>
          </a:p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sz="1461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Logged in the audit trail</a:t>
            </a:r>
          </a:p>
          <a:p>
            <a:pPr algn="l">
              <a:lnSpc>
                <a:spcPts val="1753"/>
              </a:lnSpc>
              <a:spcBef>
                <a:spcPct val="0"/>
              </a:spcBef>
            </a:pPr>
          </a:p>
          <a:p>
            <a:pPr algn="l">
              <a:lnSpc>
                <a:spcPts val="1753"/>
              </a:lnSpc>
              <a:spcBef>
                <a:spcPct val="0"/>
              </a:spcBef>
            </a:pPr>
            <a:r>
              <a:rPr lang="en-US" b="true" sz="1461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Result:</a:t>
            </a:r>
            <a:r>
              <a:rPr lang="en-US" sz="1461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New name variations get matched correctly without manual rule writing.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8474" y="5529673"/>
            <a:ext cx="4213320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Trigger:</a:t>
            </a:r>
            <a:r>
              <a:rPr lang="en-US" sz="1457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Too many corr</a:t>
            </a:r>
            <a:r>
              <a:rPr lang="en-US" sz="1457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ect matches going to review queue unnecessarily</a:t>
            </a: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Process: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Raises auto-link threshold if reviewers keep approving 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Lowers it if reviewers keep rejecting · Keeps total decision accuracy = 100%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Result:</a:t>
            </a:r>
            <a:r>
              <a:rPr lang="en-US" sz="1457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Confid</a:t>
            </a:r>
            <a:r>
              <a:rPr lang="en-US" sz="1457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ence bands automatically adjust to real-world data over time.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088934" y="7113207"/>
            <a:ext cx="4022865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Trigger:</a:t>
            </a: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One matching signal is consistently wrong.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Process: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•Measures accuracy of each signal PAN, name, address, phone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Increases weight of signals that are reliable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• Total matching weight always sums to 100%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Result: </a:t>
            </a:r>
            <a:r>
              <a:rPr lang="en-US" sz="1457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Ma</a:t>
            </a:r>
            <a:r>
              <a:rPr lang="en-US" sz="1457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tching gets smarter with every reviewer decision made.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18611" y="5570175"/>
            <a:ext cx="4436059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Trigger:</a:t>
            </a: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500+ new reviewer decisions accumulated.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Process: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• Uses confirmed matches as positive training data · Uses rejected matches as negative training data · Retrains XGBoost classifier on updated dataset · Deploys only if accuracy improves by 2%+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457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Result:</a:t>
            </a:r>
            <a:r>
              <a:rPr lang="en-US" sz="1457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AI learns directly from real Karnataka business data..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070625" y="2178241"/>
            <a:ext cx="3912494" cy="222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b="true" sz="1325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Applied to:</a:t>
            </a:r>
            <a:r>
              <a:rPr lang="en-US" sz="1325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All system improvements.</a:t>
            </a:r>
          </a:p>
          <a:p>
            <a:pPr algn="l">
              <a:lnSpc>
                <a:spcPts val="1590"/>
              </a:lnSpc>
              <a:spcBef>
                <a:spcPct val="0"/>
              </a:spcBef>
            </a:pPr>
          </a:p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b="true" sz="1325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Process:</a:t>
            </a:r>
          </a:p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sz="1325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• Runs in shadow mode first — old and new run together</a:t>
            </a:r>
          </a:p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sz="1325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· Compares old vs new accuracy on real records</a:t>
            </a:r>
          </a:p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sz="1325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· Deploys only if the new version performs better</a:t>
            </a:r>
          </a:p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sz="1325">
                <a:solidFill>
                  <a:srgbClr val="035C7C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· Instant rollback available if anything breaks</a:t>
            </a:r>
          </a:p>
          <a:p>
            <a:pPr algn="l">
              <a:lnSpc>
                <a:spcPts val="1590"/>
              </a:lnSpc>
              <a:spcBef>
                <a:spcPct val="0"/>
              </a:spcBef>
            </a:pPr>
          </a:p>
          <a:p>
            <a:pPr algn="l">
              <a:lnSpc>
                <a:spcPts val="1590"/>
              </a:lnSpc>
              <a:spcBef>
                <a:spcPct val="0"/>
              </a:spcBef>
            </a:pPr>
            <a:r>
              <a:rPr lang="en-US" b="true" sz="1325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Result:  </a:t>
            </a:r>
            <a:r>
              <a:rPr lang="en-US" b="true" sz="1325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System improves safely — nothing breaks during updates.</a:t>
            </a:r>
          </a:p>
        </p:txBody>
      </p:sp>
      <p:sp>
        <p:nvSpPr>
          <p:cNvPr name="AutoShape 56" id="56"/>
          <p:cNvSpPr/>
          <p:nvPr/>
        </p:nvSpPr>
        <p:spPr>
          <a:xfrm flipV="true">
            <a:off x="11526964" y="3257024"/>
            <a:ext cx="1278750" cy="557907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7" id="57"/>
          <p:cNvSpPr/>
          <p:nvPr/>
        </p:nvSpPr>
        <p:spPr>
          <a:xfrm flipH="true" flipV="true">
            <a:off x="5421319" y="3257024"/>
            <a:ext cx="1276524" cy="540266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 flipH="true">
            <a:off x="5696914" y="4662945"/>
            <a:ext cx="704652" cy="405109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>
            <a:off x="11724368" y="4603163"/>
            <a:ext cx="719591" cy="464891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>
            <a:off x="9057103" y="6054023"/>
            <a:ext cx="43264" cy="635665"/>
          </a:xfrm>
          <a:prstGeom prst="line">
            <a:avLst/>
          </a:prstGeom>
          <a:ln cap="flat" w="38100">
            <a:solidFill>
              <a:srgbClr val="21506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1" id="61"/>
          <p:cNvSpPr txBox="true"/>
          <p:nvPr/>
        </p:nvSpPr>
        <p:spPr>
          <a:xfrm rot="0">
            <a:off x="993145" y="9750806"/>
            <a:ext cx="163017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  <a:spcBef>
                <a:spcPct val="0"/>
              </a:spcBef>
            </a:pPr>
            <a:r>
              <a:rPr lang="en-US" b="true" sz="1883" i="true">
                <a:solidFill>
                  <a:srgbClr val="215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"Unlike a static database, UBID automatically gets more accurate over time learning from every decision a reviewer makes."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42038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2362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b="true" sz="2900">
                  <a:solidFill>
                    <a:srgbClr val="00000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HUMAN TRIAGE + FEEDBACK LOOP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233468" y="7083069"/>
          <a:ext cx="7543800" cy="3143250"/>
        </p:xfrm>
        <a:graphic>
          <a:graphicData uri="http://schemas.openxmlformats.org/presentationml/2006/ole">
            <p:oleObj imgW="9042400" imgH="4648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976372" y="6652013"/>
            <a:ext cx="4056268" cy="4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 Possible Decision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44366" y="6829441"/>
            <a:ext cx="2224275" cy="4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</a:t>
            </a:r>
            <a:r>
              <a:rPr lang="en-US" b="true" sz="2370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ore Philosophy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26386" y="7193822"/>
            <a:ext cx="7676545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2216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</a:t>
            </a:r>
            <a:r>
              <a:rPr lang="en-US" sz="2216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AI suggests matches, humans make the final call</a:t>
            </a:r>
          </a:p>
          <a:p>
            <a:pPr algn="l">
              <a:lnSpc>
                <a:spcPts val="2660"/>
              </a:lnSpc>
            </a:pPr>
            <a:r>
              <a:rPr lang="en-US" sz="2216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Prevents wrong business records from being silently merged</a:t>
            </a:r>
          </a:p>
          <a:p>
            <a:pPr algn="l">
              <a:lnSpc>
                <a:spcPts val="2660"/>
              </a:lnSpc>
            </a:pPr>
            <a:r>
              <a:rPr lang="en-US" sz="2216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Every reviewer decision becomes a training example</a:t>
            </a:r>
          </a:p>
          <a:p>
            <a:pPr algn="l">
              <a:lnSpc>
                <a:spcPts val="2660"/>
              </a:lnSpc>
            </a:pPr>
            <a:r>
              <a:rPr lang="en-US" sz="2216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System continuously gets more accurate over time</a:t>
            </a:r>
          </a:p>
          <a:p>
            <a:pPr algn="l">
              <a:lnSpc>
                <a:spcPts val="2660"/>
              </a:lnSpc>
            </a:pPr>
            <a:r>
              <a:rPr lang="en-US" sz="2216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· No match is ever permanent — any decision can be reversed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59252" y="9189285"/>
            <a:ext cx="519450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b="true" sz="2132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Human expertise</a:t>
            </a:r>
            <a:r>
              <a:rPr lang="en-US" sz="2132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+ </a:t>
            </a:r>
            <a:r>
              <a:rPr lang="en-US" b="true" sz="2132">
                <a:solidFill>
                  <a:srgbClr val="21506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AI automation</a:t>
            </a:r>
          </a:p>
          <a:p>
            <a:pPr algn="ctr">
              <a:lnSpc>
                <a:spcPts val="2558"/>
              </a:lnSpc>
            </a:pPr>
            <a:r>
              <a:rPr lang="en-US" sz="2132">
                <a:solidFill>
                  <a:srgbClr val="215061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working together for safer security decision.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50031" y="1081349"/>
            <a:ext cx="13187938" cy="5334605"/>
          </a:xfrm>
          <a:custGeom>
            <a:avLst/>
            <a:gdLst/>
            <a:ahLst/>
            <a:cxnLst/>
            <a:rect r="r" b="b" t="t" l="l"/>
            <a:pathLst>
              <a:path h="5334605" w="13187938">
                <a:moveTo>
                  <a:pt x="0" y="0"/>
                </a:moveTo>
                <a:lnTo>
                  <a:pt x="13187938" y="0"/>
                </a:lnTo>
                <a:lnTo>
                  <a:pt x="13187938" y="5334605"/>
                </a:lnTo>
                <a:lnTo>
                  <a:pt x="0" y="5334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25" r="0" b="-10973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06313" y="-236017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945600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Dashboard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61091" y="1797837"/>
            <a:ext cx="1112500" cy="588234"/>
          </a:xfrm>
          <a:custGeom>
            <a:avLst/>
            <a:gdLst/>
            <a:ahLst/>
            <a:cxnLst/>
            <a:rect r="r" b="b" t="t" l="l"/>
            <a:pathLst>
              <a:path h="588234" w="1112500">
                <a:moveTo>
                  <a:pt x="0" y="0"/>
                </a:moveTo>
                <a:lnTo>
                  <a:pt x="1112499" y="0"/>
                </a:lnTo>
                <a:lnTo>
                  <a:pt x="1112499" y="588234"/>
                </a:lnTo>
                <a:lnTo>
                  <a:pt x="0" y="588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0461091" y="5679566"/>
            <a:ext cx="1112500" cy="588234"/>
          </a:xfrm>
          <a:custGeom>
            <a:avLst/>
            <a:gdLst/>
            <a:ahLst/>
            <a:cxnLst/>
            <a:rect r="r" b="b" t="t" l="l"/>
            <a:pathLst>
              <a:path h="588234" w="1112500">
                <a:moveTo>
                  <a:pt x="0" y="588234"/>
                </a:moveTo>
                <a:lnTo>
                  <a:pt x="1112499" y="588234"/>
                </a:lnTo>
                <a:lnTo>
                  <a:pt x="1112499" y="0"/>
                </a:lnTo>
                <a:lnTo>
                  <a:pt x="0" y="0"/>
                </a:lnTo>
                <a:lnTo>
                  <a:pt x="0" y="5882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0522" y="5677081"/>
            <a:ext cx="9963572" cy="4479874"/>
          </a:xfrm>
          <a:custGeom>
            <a:avLst/>
            <a:gdLst/>
            <a:ahLst/>
            <a:cxnLst/>
            <a:rect r="r" b="b" t="t" l="l"/>
            <a:pathLst>
              <a:path h="4479874" w="9963572">
                <a:moveTo>
                  <a:pt x="0" y="0"/>
                </a:moveTo>
                <a:lnTo>
                  <a:pt x="9963572" y="0"/>
                </a:lnTo>
                <a:lnTo>
                  <a:pt x="9963572" y="4479874"/>
                </a:lnTo>
                <a:lnTo>
                  <a:pt x="0" y="4479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338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1017341" y="8226168"/>
            <a:ext cx="6961471" cy="1451768"/>
            <a:chOff x="0" y="0"/>
            <a:chExt cx="2332248" cy="4863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2248" cy="486375"/>
            </a:xfrm>
            <a:custGeom>
              <a:avLst/>
              <a:gdLst/>
              <a:ahLst/>
              <a:cxnLst/>
              <a:rect r="r" b="b" t="t" l="l"/>
              <a:pathLst>
                <a:path h="486375" w="2332248">
                  <a:moveTo>
                    <a:pt x="56718" y="0"/>
                  </a:moveTo>
                  <a:lnTo>
                    <a:pt x="2275531" y="0"/>
                  </a:lnTo>
                  <a:cubicBezTo>
                    <a:pt x="2306855" y="0"/>
                    <a:pt x="2332248" y="25393"/>
                    <a:pt x="2332248" y="56718"/>
                  </a:cubicBezTo>
                  <a:lnTo>
                    <a:pt x="2332248" y="429657"/>
                  </a:lnTo>
                  <a:cubicBezTo>
                    <a:pt x="2332248" y="460981"/>
                    <a:pt x="2306855" y="486375"/>
                    <a:pt x="2275531" y="486375"/>
                  </a:cubicBezTo>
                  <a:lnTo>
                    <a:pt x="56718" y="486375"/>
                  </a:lnTo>
                  <a:cubicBezTo>
                    <a:pt x="25393" y="486375"/>
                    <a:pt x="0" y="460981"/>
                    <a:pt x="0" y="429657"/>
                  </a:cubicBezTo>
                  <a:lnTo>
                    <a:pt x="0" y="56718"/>
                  </a:lnTo>
                  <a:cubicBezTo>
                    <a:pt x="0" y="25393"/>
                    <a:pt x="25393" y="0"/>
                    <a:pt x="56718" y="0"/>
                  </a:cubicBezTo>
                  <a:close/>
                </a:path>
              </a:pathLst>
            </a:custGeom>
            <a:solidFill>
              <a:srgbClr val="D2FFE6">
                <a:alpha val="5098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32248" cy="53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5450" y="476651"/>
            <a:ext cx="10073717" cy="4847976"/>
          </a:xfrm>
          <a:custGeom>
            <a:avLst/>
            <a:gdLst/>
            <a:ahLst/>
            <a:cxnLst/>
            <a:rect r="r" b="b" t="t" l="l"/>
            <a:pathLst>
              <a:path h="4847976" w="10073717">
                <a:moveTo>
                  <a:pt x="0" y="0"/>
                </a:moveTo>
                <a:lnTo>
                  <a:pt x="10073717" y="0"/>
                </a:lnTo>
                <a:lnTo>
                  <a:pt x="10073717" y="4847977"/>
                </a:lnTo>
                <a:lnTo>
                  <a:pt x="0" y="484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609471" y="2628394"/>
            <a:ext cx="3054995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Triage </a:t>
            </a:r>
            <a:r>
              <a:rPr lang="en-US" b="true" sz="26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&amp;  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5693" y="4495635"/>
            <a:ext cx="3736925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Management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15573" y="3229104"/>
            <a:ext cx="4242792" cy="35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Agrandir Narrow Italics"/>
                <a:ea typeface="Agrandir Narrow Italics"/>
                <a:cs typeface="Agrandir Narrow Italics"/>
                <a:sym typeface="Agrandir Narrow Italics"/>
              </a:rPr>
              <a:t>Real-time monitoring and geographic 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0871" y="5096345"/>
            <a:ext cx="3274516" cy="37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000000"/>
                </a:solidFill>
                <a:latin typeface="Agrandir Narrow Italics"/>
                <a:ea typeface="Agrandir Narrow Italics"/>
                <a:cs typeface="Agrandir Narrow Italics"/>
                <a:sym typeface="Agrandir Narrow Italics"/>
              </a:rPr>
              <a:t>Correl</a:t>
            </a:r>
            <a:r>
              <a:rPr lang="en-US" sz="1900" i="true">
                <a:solidFill>
                  <a:srgbClr val="000000"/>
                </a:solidFill>
                <a:latin typeface="Agrandir Narrow Italics"/>
                <a:ea typeface="Agrandir Narrow Italics"/>
                <a:cs typeface="Agrandir Narrow Italics"/>
                <a:sym typeface="Agrandir Narrow Italics"/>
              </a:rPr>
              <a:t>ated incidents with  scoring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09790" y="8519838"/>
            <a:ext cx="2412025" cy="43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b="true" sz="2184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GitHub Repository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57154" y="9075877"/>
            <a:ext cx="2261295" cy="38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b="true" sz="2246" u="sng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6" tooltip="https://aiforbharat-two.vercel.app"/>
              </a:rPr>
              <a:t>DEPLOYED LINK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67875" y="8519838"/>
            <a:ext cx="1770826" cy="43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b="true" sz="2184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LIVE WEBSITE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25178" y="9075877"/>
            <a:ext cx="1181249" cy="38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b="true" sz="2246" u="sng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7" tooltip="https://github.com/harir03/aiforbharat.git"/>
              </a:rPr>
              <a:t>GIT HUB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9487" y="119468"/>
            <a:ext cx="11469026" cy="1008915"/>
            <a:chOff x="0" y="0"/>
            <a:chExt cx="3020649" cy="265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0649" cy="265722"/>
            </a:xfrm>
            <a:custGeom>
              <a:avLst/>
              <a:gdLst/>
              <a:ahLst/>
              <a:cxnLst/>
              <a:rect r="r" b="b" t="t" l="l"/>
              <a:pathLst>
                <a:path h="265722" w="3020649">
                  <a:moveTo>
                    <a:pt x="34426" y="0"/>
                  </a:moveTo>
                  <a:lnTo>
                    <a:pt x="2986222" y="0"/>
                  </a:lnTo>
                  <a:cubicBezTo>
                    <a:pt x="2995353" y="0"/>
                    <a:pt x="3004109" y="3627"/>
                    <a:pt x="3010565" y="10083"/>
                  </a:cubicBezTo>
                  <a:cubicBezTo>
                    <a:pt x="3017022" y="16539"/>
                    <a:pt x="3020649" y="25296"/>
                    <a:pt x="3020649" y="34426"/>
                  </a:cubicBezTo>
                  <a:lnTo>
                    <a:pt x="3020649" y="231296"/>
                  </a:lnTo>
                  <a:cubicBezTo>
                    <a:pt x="3020649" y="240426"/>
                    <a:pt x="3017022" y="249183"/>
                    <a:pt x="3010565" y="255639"/>
                  </a:cubicBezTo>
                  <a:cubicBezTo>
                    <a:pt x="3004109" y="262095"/>
                    <a:pt x="2995353" y="265722"/>
                    <a:pt x="2986222" y="265722"/>
                  </a:cubicBezTo>
                  <a:lnTo>
                    <a:pt x="34426" y="265722"/>
                  </a:lnTo>
                  <a:cubicBezTo>
                    <a:pt x="25296" y="265722"/>
                    <a:pt x="16539" y="262095"/>
                    <a:pt x="10083" y="255639"/>
                  </a:cubicBezTo>
                  <a:cubicBezTo>
                    <a:pt x="3627" y="249183"/>
                    <a:pt x="0" y="240426"/>
                    <a:pt x="0" y="231296"/>
                  </a:cubicBezTo>
                  <a:lnTo>
                    <a:pt x="0" y="34426"/>
                  </a:lnTo>
                  <a:cubicBezTo>
                    <a:pt x="0" y="25296"/>
                    <a:pt x="3627" y="16539"/>
                    <a:pt x="10083" y="10083"/>
                  </a:cubicBezTo>
                  <a:cubicBezTo>
                    <a:pt x="16539" y="3627"/>
                    <a:pt x="25296" y="0"/>
                    <a:pt x="34426" y="0"/>
                  </a:cubicBezTo>
                  <a:close/>
                </a:path>
              </a:pathLst>
            </a:custGeom>
            <a:solidFill>
              <a:srgbClr val="2250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20649" cy="38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-233325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5061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1945600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DATA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38" y="1481175"/>
            <a:ext cx="8346443" cy="4862954"/>
            <a:chOff x="0" y="0"/>
            <a:chExt cx="11128591" cy="64839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7450"/>
              <a:ext cx="11094720" cy="6448946"/>
            </a:xfrm>
            <a:custGeom>
              <a:avLst/>
              <a:gdLst/>
              <a:ahLst/>
              <a:cxnLst/>
              <a:rect r="r" b="b" t="t" l="l"/>
              <a:pathLst>
                <a:path h="6448946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448946"/>
                  </a:lnTo>
                  <a:lnTo>
                    <a:pt x="0" y="64489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6483846"/>
            </a:xfrm>
            <a:custGeom>
              <a:avLst/>
              <a:gdLst/>
              <a:ahLst/>
              <a:cxnLst/>
              <a:rect r="r" b="b" t="t" l="l"/>
              <a:pathLst>
                <a:path h="648384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872"/>
                    <a:pt x="11128501" y="17450"/>
                  </a:cubicBezTo>
                  <a:lnTo>
                    <a:pt x="11128501" y="6466396"/>
                  </a:lnTo>
                  <a:cubicBezTo>
                    <a:pt x="11128501" y="6476105"/>
                    <a:pt x="11120882" y="6483846"/>
                    <a:pt x="11111611" y="6483846"/>
                  </a:cubicBezTo>
                  <a:lnTo>
                    <a:pt x="16891" y="6483846"/>
                  </a:lnTo>
                  <a:cubicBezTo>
                    <a:pt x="7493" y="6483846"/>
                    <a:pt x="0" y="6475974"/>
                    <a:pt x="0" y="6466396"/>
                  </a:cubicBezTo>
                  <a:lnTo>
                    <a:pt x="0" y="17450"/>
                  </a:lnTo>
                  <a:cubicBezTo>
                    <a:pt x="0" y="7872"/>
                    <a:pt x="7620" y="0"/>
                    <a:pt x="16891" y="0"/>
                  </a:cubicBezTo>
                  <a:moveTo>
                    <a:pt x="16891" y="35032"/>
                  </a:moveTo>
                  <a:lnTo>
                    <a:pt x="16891" y="17450"/>
                  </a:lnTo>
                  <a:lnTo>
                    <a:pt x="33909" y="17450"/>
                  </a:lnTo>
                  <a:lnTo>
                    <a:pt x="33909" y="6466396"/>
                  </a:lnTo>
                  <a:lnTo>
                    <a:pt x="16891" y="6466396"/>
                  </a:lnTo>
                  <a:lnTo>
                    <a:pt x="16891" y="6448947"/>
                  </a:lnTo>
                  <a:lnTo>
                    <a:pt x="11111611" y="6448947"/>
                  </a:lnTo>
                  <a:lnTo>
                    <a:pt x="11111611" y="6466396"/>
                  </a:lnTo>
                  <a:lnTo>
                    <a:pt x="11094720" y="6466396"/>
                  </a:lnTo>
                  <a:lnTo>
                    <a:pt x="11094720" y="17450"/>
                  </a:lnTo>
                  <a:lnTo>
                    <a:pt x="11111611" y="17450"/>
                  </a:lnTo>
                  <a:lnTo>
                    <a:pt x="11111611" y="35032"/>
                  </a:lnTo>
                  <a:lnTo>
                    <a:pt x="16891" y="35032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1655" y="1530448"/>
            <a:ext cx="8321040" cy="493776"/>
            <a:chOff x="0" y="0"/>
            <a:chExt cx="11094720" cy="65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1094720" cy="725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PostgreSQL TABLES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40075" y="2024224"/>
          <a:ext cx="8204200" cy="4319905"/>
        </p:xfrm>
        <a:graphic>
          <a:graphicData uri="http://schemas.openxmlformats.org/drawingml/2006/table">
            <a:tbl>
              <a:tblPr/>
              <a:tblGrid>
                <a:gridCol w="1739371"/>
                <a:gridCol w="4453996"/>
                <a:gridCol w="2010833"/>
              </a:tblGrid>
              <a:tr h="4672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0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Stored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0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Used By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070"/>
                    </a:solidFill>
                  </a:tcPr>
                </a:tc>
              </a:tr>
              <a:tr h="67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Businesses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Raw records from all departments, canonical schema, ingest timestamp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Resolution Engine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2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UBID Registry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Final UBID, linked records, confidence score, anchor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All Layers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7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Review Queue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Pending matches, confidence band, reviewer ID, decision, timestamp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Reviewer Dashboard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Audit Log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Every link, rejection, override, and model update with full history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Compliance &amp; Officers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7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Events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Activity events — inspections, renewals, filings, electricity readings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Activity Classifier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01607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Classifications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Active / Dormant / Closed label, confidence score, SHAP explanation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Business Intelligence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535938" y="6467954"/>
            <a:ext cx="8346443" cy="3487680"/>
            <a:chOff x="0" y="0"/>
            <a:chExt cx="11128591" cy="465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5995"/>
              <a:ext cx="11094720" cy="4618166"/>
            </a:xfrm>
            <a:custGeom>
              <a:avLst/>
              <a:gdLst/>
              <a:ahLst/>
              <a:cxnLst/>
              <a:rect r="r" b="b" t="t" l="l"/>
              <a:pathLst>
                <a:path h="4618166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18166"/>
                  </a:lnTo>
                  <a:lnTo>
                    <a:pt x="0" y="46181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28501" cy="4650156"/>
            </a:xfrm>
            <a:custGeom>
              <a:avLst/>
              <a:gdLst/>
              <a:ahLst/>
              <a:cxnLst/>
              <a:rect r="r" b="b" t="t" l="l"/>
              <a:pathLst>
                <a:path h="465015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216"/>
                    <a:pt x="11128501" y="15995"/>
                  </a:cubicBezTo>
                  <a:lnTo>
                    <a:pt x="11128501" y="4634161"/>
                  </a:lnTo>
                  <a:cubicBezTo>
                    <a:pt x="11128501" y="4643061"/>
                    <a:pt x="11120882" y="4650156"/>
                    <a:pt x="11111611" y="4650156"/>
                  </a:cubicBezTo>
                  <a:lnTo>
                    <a:pt x="16891" y="4650156"/>
                  </a:lnTo>
                  <a:cubicBezTo>
                    <a:pt x="7493" y="4650156"/>
                    <a:pt x="0" y="4642940"/>
                    <a:pt x="0" y="4634161"/>
                  </a:cubicBezTo>
                  <a:lnTo>
                    <a:pt x="0" y="15995"/>
                  </a:lnTo>
                  <a:cubicBezTo>
                    <a:pt x="0" y="7216"/>
                    <a:pt x="7620" y="0"/>
                    <a:pt x="16891" y="0"/>
                  </a:cubicBezTo>
                  <a:moveTo>
                    <a:pt x="16891" y="32111"/>
                  </a:moveTo>
                  <a:lnTo>
                    <a:pt x="16891" y="15995"/>
                  </a:lnTo>
                  <a:lnTo>
                    <a:pt x="33909" y="15995"/>
                  </a:lnTo>
                  <a:lnTo>
                    <a:pt x="33909" y="4634161"/>
                  </a:lnTo>
                  <a:lnTo>
                    <a:pt x="16891" y="4634161"/>
                  </a:lnTo>
                  <a:lnTo>
                    <a:pt x="16891" y="4618166"/>
                  </a:lnTo>
                  <a:lnTo>
                    <a:pt x="11111611" y="4618166"/>
                  </a:lnTo>
                  <a:lnTo>
                    <a:pt x="11111611" y="4634161"/>
                  </a:lnTo>
                  <a:lnTo>
                    <a:pt x="11094720" y="4634161"/>
                  </a:lnTo>
                  <a:lnTo>
                    <a:pt x="11094720" y="15995"/>
                  </a:lnTo>
                  <a:lnTo>
                    <a:pt x="11111611" y="15995"/>
                  </a:lnTo>
                  <a:lnTo>
                    <a:pt x="11111611" y="32111"/>
                  </a:lnTo>
                  <a:lnTo>
                    <a:pt x="16891" y="32111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5394" y="7077303"/>
            <a:ext cx="263147" cy="263147"/>
            <a:chOff x="0" y="0"/>
            <a:chExt cx="350863" cy="3508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6126" y="316992"/>
                    <a:pt x="158496" y="316992"/>
                  </a:cubicBezTo>
                  <a:cubicBezTo>
                    <a:pt x="70866" y="316992"/>
                    <a:pt x="0" y="246126"/>
                    <a:pt x="0" y="158496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0774" cy="350774"/>
            </a:xfrm>
            <a:custGeom>
              <a:avLst/>
              <a:gdLst/>
              <a:ahLst/>
              <a:cxnLst/>
              <a:rect r="r" b="b" t="t" l="l"/>
              <a:pathLst>
                <a:path h="350774" w="350774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lnTo>
                    <a:pt x="175387" y="16891"/>
                  </a:lnTo>
                  <a:lnTo>
                    <a:pt x="175387" y="0"/>
                  </a:lnTo>
                  <a:cubicBezTo>
                    <a:pt x="272288" y="0"/>
                    <a:pt x="350774" y="78486"/>
                    <a:pt x="350774" y="175387"/>
                  </a:cubicBezTo>
                  <a:lnTo>
                    <a:pt x="333883" y="175387"/>
                  </a:lnTo>
                  <a:lnTo>
                    <a:pt x="350774" y="175387"/>
                  </a:lnTo>
                  <a:cubicBezTo>
                    <a:pt x="350774" y="272288"/>
                    <a:pt x="272288" y="350774"/>
                    <a:pt x="175387" y="350774"/>
                  </a:cubicBezTo>
                  <a:lnTo>
                    <a:pt x="175387" y="333883"/>
                  </a:lnTo>
                  <a:lnTo>
                    <a:pt x="175387" y="350774"/>
                  </a:lnTo>
                  <a:cubicBezTo>
                    <a:pt x="78486" y="350901"/>
                    <a:pt x="0" y="272288"/>
                    <a:pt x="0" y="175387"/>
                  </a:cubicBezTo>
                  <a:lnTo>
                    <a:pt x="16891" y="175387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0" y="175387"/>
                  </a:lnTo>
                  <a:moveTo>
                    <a:pt x="33909" y="175387"/>
                  </a:moveTo>
                  <a:cubicBezTo>
                    <a:pt x="33909" y="184785"/>
                    <a:pt x="26289" y="192278"/>
                    <a:pt x="17018" y="192278"/>
                  </a:cubicBezTo>
                  <a:cubicBezTo>
                    <a:pt x="7747" y="192278"/>
                    <a:pt x="0" y="184785"/>
                    <a:pt x="0" y="175387"/>
                  </a:cubicBezTo>
                  <a:cubicBezTo>
                    <a:pt x="0" y="165989"/>
                    <a:pt x="7620" y="158496"/>
                    <a:pt x="16891" y="158496"/>
                  </a:cubicBezTo>
                  <a:cubicBezTo>
                    <a:pt x="26162" y="158496"/>
                    <a:pt x="33782" y="166116"/>
                    <a:pt x="33782" y="175387"/>
                  </a:cubicBezTo>
                  <a:cubicBezTo>
                    <a:pt x="33782" y="253619"/>
                    <a:pt x="97155" y="316992"/>
                    <a:pt x="175387" y="316992"/>
                  </a:cubicBezTo>
                  <a:cubicBezTo>
                    <a:pt x="253619" y="316992"/>
                    <a:pt x="316992" y="253619"/>
                    <a:pt x="316992" y="175387"/>
                  </a:cubicBezTo>
                  <a:cubicBezTo>
                    <a:pt x="316992" y="97155"/>
                    <a:pt x="253619" y="33782"/>
                    <a:pt x="175387" y="33782"/>
                  </a:cubicBezTo>
                  <a:lnTo>
                    <a:pt x="175387" y="16891"/>
                  </a:lnTo>
                  <a:lnTo>
                    <a:pt x="175387" y="33909"/>
                  </a:lnTo>
                  <a:cubicBezTo>
                    <a:pt x="97282" y="33909"/>
                    <a:pt x="33909" y="97282"/>
                    <a:pt x="33909" y="175387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75" y="6907120"/>
            <a:ext cx="2286000" cy="621792"/>
            <a:chOff x="0" y="0"/>
            <a:chExt cx="3048000" cy="8290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8000" cy="829056"/>
            </a:xfrm>
            <a:custGeom>
              <a:avLst/>
              <a:gdLst/>
              <a:ahLst/>
              <a:cxnLst/>
              <a:rect r="r" b="b" t="t" l="l"/>
              <a:pathLst>
                <a:path h="82905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048000" cy="857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7"/>
                </a:lnSpc>
              </a:pPr>
              <a:r>
                <a:rPr lang="en-US" sz="1239">
                  <a:solidFill>
                    <a:srgbClr val="1A234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Auto Linked (PAN / GSTIN)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62018" y="7077303"/>
            <a:ext cx="4414523" cy="281435"/>
            <a:chOff x="0" y="0"/>
            <a:chExt cx="5886031" cy="3752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5852160" cy="341376"/>
            </a:xfrm>
            <a:custGeom>
              <a:avLst/>
              <a:gdLst/>
              <a:ahLst/>
              <a:cxnLst/>
              <a:rect r="r" b="b" t="t" l="l"/>
              <a:pathLst>
                <a:path h="3413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85942" cy="375160"/>
            </a:xfrm>
            <a:custGeom>
              <a:avLst/>
              <a:gdLst/>
              <a:ahLst/>
              <a:cxnLst/>
              <a:rect r="r" b="b" t="t" l="l"/>
              <a:pathLst>
                <a:path h="375160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358267"/>
                  </a:lnTo>
                  <a:cubicBezTo>
                    <a:pt x="5885942" y="367665"/>
                    <a:pt x="5878322" y="375158"/>
                    <a:pt x="5869051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5869051" y="341376"/>
                  </a:lnTo>
                  <a:lnTo>
                    <a:pt x="5869051" y="358267"/>
                  </a:lnTo>
                  <a:lnTo>
                    <a:pt x="5852160" y="358267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462018" y="7077303"/>
            <a:ext cx="4414523" cy="281435"/>
            <a:chOff x="0" y="0"/>
            <a:chExt cx="5886031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5852160" cy="341376"/>
            </a:xfrm>
            <a:custGeom>
              <a:avLst/>
              <a:gdLst/>
              <a:ahLst/>
              <a:cxnLst/>
              <a:rect r="r" b="b" t="t" l="l"/>
              <a:pathLst>
                <a:path h="3413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85942" cy="375160"/>
            </a:xfrm>
            <a:custGeom>
              <a:avLst/>
              <a:gdLst/>
              <a:ahLst/>
              <a:cxnLst/>
              <a:rect r="r" b="b" t="t" l="l"/>
              <a:pathLst>
                <a:path h="375160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358267"/>
                  </a:lnTo>
                  <a:cubicBezTo>
                    <a:pt x="5885942" y="367665"/>
                    <a:pt x="5878322" y="375158"/>
                    <a:pt x="5869051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5869051" y="341376"/>
                  </a:lnTo>
                  <a:lnTo>
                    <a:pt x="5869051" y="358267"/>
                  </a:lnTo>
                  <a:lnTo>
                    <a:pt x="5852160" y="358267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6987" y="6907120"/>
            <a:ext cx="694944" cy="621792"/>
            <a:chOff x="0" y="0"/>
            <a:chExt cx="926592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" cy="829056"/>
            </a:xfrm>
            <a:custGeom>
              <a:avLst/>
              <a:gdLst/>
              <a:ahLst/>
              <a:cxnLst/>
              <a:rect r="r" b="b" t="t" l="l"/>
              <a:pathLst>
                <a:path h="82905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2659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C0392B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35%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5394" y="7699095"/>
            <a:ext cx="263147" cy="263147"/>
            <a:chOff x="0" y="0"/>
            <a:chExt cx="350863" cy="3508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6126" y="316992"/>
                    <a:pt x="158496" y="316992"/>
                  </a:cubicBezTo>
                  <a:cubicBezTo>
                    <a:pt x="70866" y="316992"/>
                    <a:pt x="0" y="246126"/>
                    <a:pt x="0" y="158496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0774" cy="350774"/>
            </a:xfrm>
            <a:custGeom>
              <a:avLst/>
              <a:gdLst/>
              <a:ahLst/>
              <a:cxnLst/>
              <a:rect r="r" b="b" t="t" l="l"/>
              <a:pathLst>
                <a:path h="350774" w="350774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lnTo>
                    <a:pt x="175387" y="16891"/>
                  </a:lnTo>
                  <a:lnTo>
                    <a:pt x="175387" y="0"/>
                  </a:lnTo>
                  <a:cubicBezTo>
                    <a:pt x="272288" y="0"/>
                    <a:pt x="350774" y="78486"/>
                    <a:pt x="350774" y="175387"/>
                  </a:cubicBezTo>
                  <a:lnTo>
                    <a:pt x="333883" y="175387"/>
                  </a:lnTo>
                  <a:lnTo>
                    <a:pt x="350774" y="175387"/>
                  </a:lnTo>
                  <a:cubicBezTo>
                    <a:pt x="350774" y="272288"/>
                    <a:pt x="272288" y="350774"/>
                    <a:pt x="175387" y="350774"/>
                  </a:cubicBezTo>
                  <a:lnTo>
                    <a:pt x="175387" y="333883"/>
                  </a:lnTo>
                  <a:lnTo>
                    <a:pt x="175387" y="350774"/>
                  </a:lnTo>
                  <a:cubicBezTo>
                    <a:pt x="78486" y="350901"/>
                    <a:pt x="0" y="272288"/>
                    <a:pt x="0" y="175387"/>
                  </a:cubicBezTo>
                  <a:lnTo>
                    <a:pt x="16891" y="175387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0" y="175387"/>
                  </a:lnTo>
                  <a:moveTo>
                    <a:pt x="33909" y="175387"/>
                  </a:moveTo>
                  <a:cubicBezTo>
                    <a:pt x="33909" y="184785"/>
                    <a:pt x="26289" y="192278"/>
                    <a:pt x="17018" y="192278"/>
                  </a:cubicBezTo>
                  <a:cubicBezTo>
                    <a:pt x="7747" y="192278"/>
                    <a:pt x="0" y="184785"/>
                    <a:pt x="0" y="175387"/>
                  </a:cubicBezTo>
                  <a:cubicBezTo>
                    <a:pt x="0" y="165989"/>
                    <a:pt x="7620" y="158496"/>
                    <a:pt x="16891" y="158496"/>
                  </a:cubicBezTo>
                  <a:cubicBezTo>
                    <a:pt x="26162" y="158496"/>
                    <a:pt x="33782" y="166116"/>
                    <a:pt x="33782" y="175387"/>
                  </a:cubicBezTo>
                  <a:cubicBezTo>
                    <a:pt x="33782" y="253619"/>
                    <a:pt x="97155" y="316992"/>
                    <a:pt x="175387" y="316992"/>
                  </a:cubicBezTo>
                  <a:cubicBezTo>
                    <a:pt x="253619" y="316992"/>
                    <a:pt x="316992" y="253619"/>
                    <a:pt x="316992" y="175387"/>
                  </a:cubicBezTo>
                  <a:cubicBezTo>
                    <a:pt x="316992" y="97155"/>
                    <a:pt x="253619" y="33782"/>
                    <a:pt x="175387" y="33782"/>
                  </a:cubicBezTo>
                  <a:lnTo>
                    <a:pt x="175387" y="16891"/>
                  </a:lnTo>
                  <a:lnTo>
                    <a:pt x="175387" y="33909"/>
                  </a:lnTo>
                  <a:cubicBezTo>
                    <a:pt x="97282" y="33909"/>
                    <a:pt x="33909" y="97282"/>
                    <a:pt x="33909" y="175387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75" y="7528912"/>
            <a:ext cx="2286000" cy="621792"/>
            <a:chOff x="0" y="0"/>
            <a:chExt cx="3048000" cy="829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48000" cy="829056"/>
            </a:xfrm>
            <a:custGeom>
              <a:avLst/>
              <a:gdLst/>
              <a:ahLst/>
              <a:cxnLst/>
              <a:rect r="r" b="b" t="t" l="l"/>
              <a:pathLst>
                <a:path h="82905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048000" cy="857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7"/>
                </a:lnSpc>
              </a:pPr>
              <a:r>
                <a:rPr lang="en-US" sz="1239">
                  <a:solidFill>
                    <a:srgbClr val="1A234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Auto Linked (High Confidence)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62018" y="7699095"/>
            <a:ext cx="4414523" cy="281435"/>
            <a:chOff x="0" y="0"/>
            <a:chExt cx="5886031" cy="3752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5852160" cy="341376"/>
            </a:xfrm>
            <a:custGeom>
              <a:avLst/>
              <a:gdLst/>
              <a:ahLst/>
              <a:cxnLst/>
              <a:rect r="r" b="b" t="t" l="l"/>
              <a:pathLst>
                <a:path h="3413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85942" cy="375160"/>
            </a:xfrm>
            <a:custGeom>
              <a:avLst/>
              <a:gdLst/>
              <a:ahLst/>
              <a:cxnLst/>
              <a:rect r="r" b="b" t="t" l="l"/>
              <a:pathLst>
                <a:path h="375160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358267"/>
                  </a:lnTo>
                  <a:cubicBezTo>
                    <a:pt x="5885942" y="367665"/>
                    <a:pt x="5878322" y="375158"/>
                    <a:pt x="5869051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5869051" y="341376"/>
                  </a:lnTo>
                  <a:lnTo>
                    <a:pt x="5869051" y="358267"/>
                  </a:lnTo>
                  <a:lnTo>
                    <a:pt x="5852160" y="358267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462018" y="7699095"/>
            <a:ext cx="3787502" cy="281435"/>
            <a:chOff x="0" y="0"/>
            <a:chExt cx="5050003" cy="3752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5016119" cy="341376"/>
            </a:xfrm>
            <a:custGeom>
              <a:avLst/>
              <a:gdLst/>
              <a:ahLst/>
              <a:cxnLst/>
              <a:rect r="r" b="b" t="t" l="l"/>
              <a:pathLst>
                <a:path h="341376" w="5016119">
                  <a:moveTo>
                    <a:pt x="0" y="0"/>
                  </a:moveTo>
                  <a:lnTo>
                    <a:pt x="5016119" y="0"/>
                  </a:lnTo>
                  <a:lnTo>
                    <a:pt x="5016119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49901" cy="375160"/>
            </a:xfrm>
            <a:custGeom>
              <a:avLst/>
              <a:gdLst/>
              <a:ahLst/>
              <a:cxnLst/>
              <a:rect r="r" b="b" t="t" l="l"/>
              <a:pathLst>
                <a:path h="375160" w="5049901">
                  <a:moveTo>
                    <a:pt x="16891" y="0"/>
                  </a:moveTo>
                  <a:lnTo>
                    <a:pt x="5033010" y="0"/>
                  </a:lnTo>
                  <a:cubicBezTo>
                    <a:pt x="5042408" y="0"/>
                    <a:pt x="5049901" y="7620"/>
                    <a:pt x="5049901" y="16891"/>
                  </a:cubicBezTo>
                  <a:lnTo>
                    <a:pt x="5049901" y="358267"/>
                  </a:lnTo>
                  <a:cubicBezTo>
                    <a:pt x="5049901" y="367665"/>
                    <a:pt x="5042281" y="375158"/>
                    <a:pt x="5033010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5033010" y="341376"/>
                  </a:lnTo>
                  <a:lnTo>
                    <a:pt x="5033010" y="358267"/>
                  </a:lnTo>
                  <a:lnTo>
                    <a:pt x="5016119" y="358267"/>
                  </a:lnTo>
                  <a:lnTo>
                    <a:pt x="5016119" y="16891"/>
                  </a:lnTo>
                  <a:lnTo>
                    <a:pt x="5033010" y="16891"/>
                  </a:lnTo>
                  <a:lnTo>
                    <a:pt x="5033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936987" y="7528912"/>
            <a:ext cx="694944" cy="621792"/>
            <a:chOff x="0" y="0"/>
            <a:chExt cx="926592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6592" cy="829056"/>
            </a:xfrm>
            <a:custGeom>
              <a:avLst/>
              <a:gdLst/>
              <a:ahLst/>
              <a:cxnLst/>
              <a:rect r="r" b="b" t="t" l="l"/>
              <a:pathLst>
                <a:path h="82905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2659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E07B39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30%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55394" y="8320887"/>
            <a:ext cx="263147" cy="263147"/>
            <a:chOff x="0" y="0"/>
            <a:chExt cx="350863" cy="3508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6126" y="316992"/>
                    <a:pt x="158496" y="316992"/>
                  </a:cubicBezTo>
                  <a:cubicBezTo>
                    <a:pt x="70866" y="316992"/>
                    <a:pt x="0" y="246126"/>
                    <a:pt x="0" y="158496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0774" cy="350774"/>
            </a:xfrm>
            <a:custGeom>
              <a:avLst/>
              <a:gdLst/>
              <a:ahLst/>
              <a:cxnLst/>
              <a:rect r="r" b="b" t="t" l="l"/>
              <a:pathLst>
                <a:path h="350774" w="350774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lnTo>
                    <a:pt x="175387" y="16891"/>
                  </a:lnTo>
                  <a:lnTo>
                    <a:pt x="175387" y="0"/>
                  </a:lnTo>
                  <a:cubicBezTo>
                    <a:pt x="272288" y="0"/>
                    <a:pt x="350774" y="78486"/>
                    <a:pt x="350774" y="175387"/>
                  </a:cubicBezTo>
                  <a:lnTo>
                    <a:pt x="333883" y="175387"/>
                  </a:lnTo>
                  <a:lnTo>
                    <a:pt x="350774" y="175387"/>
                  </a:lnTo>
                  <a:cubicBezTo>
                    <a:pt x="350774" y="272288"/>
                    <a:pt x="272288" y="350774"/>
                    <a:pt x="175387" y="350774"/>
                  </a:cubicBezTo>
                  <a:lnTo>
                    <a:pt x="175387" y="333883"/>
                  </a:lnTo>
                  <a:lnTo>
                    <a:pt x="175387" y="350774"/>
                  </a:lnTo>
                  <a:cubicBezTo>
                    <a:pt x="78486" y="350901"/>
                    <a:pt x="0" y="272288"/>
                    <a:pt x="0" y="175387"/>
                  </a:cubicBezTo>
                  <a:lnTo>
                    <a:pt x="16891" y="175387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0" y="175387"/>
                  </a:lnTo>
                  <a:moveTo>
                    <a:pt x="33909" y="175387"/>
                  </a:moveTo>
                  <a:cubicBezTo>
                    <a:pt x="33909" y="184785"/>
                    <a:pt x="26289" y="192278"/>
                    <a:pt x="17018" y="192278"/>
                  </a:cubicBezTo>
                  <a:cubicBezTo>
                    <a:pt x="7747" y="192278"/>
                    <a:pt x="0" y="184785"/>
                    <a:pt x="0" y="175387"/>
                  </a:cubicBezTo>
                  <a:cubicBezTo>
                    <a:pt x="0" y="165989"/>
                    <a:pt x="7620" y="158496"/>
                    <a:pt x="16891" y="158496"/>
                  </a:cubicBezTo>
                  <a:cubicBezTo>
                    <a:pt x="26162" y="158496"/>
                    <a:pt x="33782" y="166116"/>
                    <a:pt x="33782" y="175387"/>
                  </a:cubicBezTo>
                  <a:cubicBezTo>
                    <a:pt x="33782" y="253619"/>
                    <a:pt x="97155" y="316992"/>
                    <a:pt x="175387" y="316992"/>
                  </a:cubicBezTo>
                  <a:cubicBezTo>
                    <a:pt x="253619" y="316992"/>
                    <a:pt x="316992" y="253619"/>
                    <a:pt x="316992" y="175387"/>
                  </a:cubicBezTo>
                  <a:cubicBezTo>
                    <a:pt x="316992" y="97155"/>
                    <a:pt x="253619" y="33782"/>
                    <a:pt x="175387" y="33782"/>
                  </a:cubicBezTo>
                  <a:lnTo>
                    <a:pt x="175387" y="16891"/>
                  </a:lnTo>
                  <a:lnTo>
                    <a:pt x="175387" y="33909"/>
                  </a:lnTo>
                  <a:cubicBezTo>
                    <a:pt x="97282" y="33909"/>
                    <a:pt x="33909" y="97282"/>
                    <a:pt x="33909" y="175387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97275" y="8150704"/>
            <a:ext cx="2286000" cy="621792"/>
            <a:chOff x="0" y="0"/>
            <a:chExt cx="3048000" cy="8290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48000" cy="829056"/>
            </a:xfrm>
            <a:custGeom>
              <a:avLst/>
              <a:gdLst/>
              <a:ahLst/>
              <a:cxnLst/>
              <a:rect r="r" b="b" t="t" l="l"/>
              <a:pathLst>
                <a:path h="82905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048000" cy="857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7"/>
                </a:lnSpc>
              </a:pPr>
              <a:r>
                <a:rPr lang="en-US" sz="1239">
                  <a:solidFill>
                    <a:srgbClr val="1A234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Sent for Human Review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462018" y="8320887"/>
            <a:ext cx="4414523" cy="281435"/>
            <a:chOff x="0" y="0"/>
            <a:chExt cx="5886031" cy="37524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5852160" cy="341376"/>
            </a:xfrm>
            <a:custGeom>
              <a:avLst/>
              <a:gdLst/>
              <a:ahLst/>
              <a:cxnLst/>
              <a:rect r="r" b="b" t="t" l="l"/>
              <a:pathLst>
                <a:path h="3413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85942" cy="375160"/>
            </a:xfrm>
            <a:custGeom>
              <a:avLst/>
              <a:gdLst/>
              <a:ahLst/>
              <a:cxnLst/>
              <a:rect r="r" b="b" t="t" l="l"/>
              <a:pathLst>
                <a:path h="375160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358267"/>
                  </a:lnTo>
                  <a:cubicBezTo>
                    <a:pt x="5885942" y="367665"/>
                    <a:pt x="5878322" y="375158"/>
                    <a:pt x="5869051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5869051" y="341376"/>
                  </a:lnTo>
                  <a:lnTo>
                    <a:pt x="5869051" y="358267"/>
                  </a:lnTo>
                  <a:lnTo>
                    <a:pt x="5852160" y="358267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462018" y="8320887"/>
            <a:ext cx="3160490" cy="281435"/>
            <a:chOff x="0" y="0"/>
            <a:chExt cx="4213987" cy="37524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4180205" cy="341376"/>
            </a:xfrm>
            <a:custGeom>
              <a:avLst/>
              <a:gdLst/>
              <a:ahLst/>
              <a:cxnLst/>
              <a:rect r="r" b="b" t="t" l="l"/>
              <a:pathLst>
                <a:path h="341376" w="4180205">
                  <a:moveTo>
                    <a:pt x="0" y="0"/>
                  </a:moveTo>
                  <a:lnTo>
                    <a:pt x="4180205" y="0"/>
                  </a:lnTo>
                  <a:lnTo>
                    <a:pt x="4180205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13987" cy="375160"/>
            </a:xfrm>
            <a:custGeom>
              <a:avLst/>
              <a:gdLst/>
              <a:ahLst/>
              <a:cxnLst/>
              <a:rect r="r" b="b" t="t" l="l"/>
              <a:pathLst>
                <a:path h="375160" w="4213987">
                  <a:moveTo>
                    <a:pt x="16891" y="0"/>
                  </a:moveTo>
                  <a:lnTo>
                    <a:pt x="4197096" y="0"/>
                  </a:lnTo>
                  <a:cubicBezTo>
                    <a:pt x="4206494" y="0"/>
                    <a:pt x="4213987" y="7620"/>
                    <a:pt x="4213987" y="16891"/>
                  </a:cubicBezTo>
                  <a:lnTo>
                    <a:pt x="4213987" y="358267"/>
                  </a:lnTo>
                  <a:cubicBezTo>
                    <a:pt x="4213987" y="367665"/>
                    <a:pt x="4206367" y="375158"/>
                    <a:pt x="4197096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4197096" y="341376"/>
                  </a:lnTo>
                  <a:lnTo>
                    <a:pt x="4197096" y="358267"/>
                  </a:lnTo>
                  <a:lnTo>
                    <a:pt x="4180205" y="358267"/>
                  </a:lnTo>
                  <a:lnTo>
                    <a:pt x="4180205" y="16891"/>
                  </a:lnTo>
                  <a:lnTo>
                    <a:pt x="4197096" y="16891"/>
                  </a:lnTo>
                  <a:lnTo>
                    <a:pt x="419709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936987" y="8150704"/>
            <a:ext cx="694944" cy="621792"/>
            <a:chOff x="0" y="0"/>
            <a:chExt cx="926592" cy="8290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26592" cy="829056"/>
            </a:xfrm>
            <a:custGeom>
              <a:avLst/>
              <a:gdLst/>
              <a:ahLst/>
              <a:cxnLst/>
              <a:rect r="r" b="b" t="t" l="l"/>
              <a:pathLst>
                <a:path h="82905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2659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F39C12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25%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55394" y="8942679"/>
            <a:ext cx="263147" cy="263147"/>
            <a:chOff x="0" y="0"/>
            <a:chExt cx="350863" cy="35086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6126" y="316992"/>
                    <a:pt x="158496" y="316992"/>
                  </a:cubicBezTo>
                  <a:cubicBezTo>
                    <a:pt x="70866" y="316992"/>
                    <a:pt x="0" y="246126"/>
                    <a:pt x="0" y="158496"/>
                  </a:cubicBezTo>
                  <a:close/>
                </a:path>
              </a:pathLst>
            </a:custGeom>
            <a:solidFill>
              <a:srgbClr val="95A5A6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0774" cy="350774"/>
            </a:xfrm>
            <a:custGeom>
              <a:avLst/>
              <a:gdLst/>
              <a:ahLst/>
              <a:cxnLst/>
              <a:rect r="r" b="b" t="t" l="l"/>
              <a:pathLst>
                <a:path h="350774" w="350774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lnTo>
                    <a:pt x="175387" y="16891"/>
                  </a:lnTo>
                  <a:lnTo>
                    <a:pt x="175387" y="0"/>
                  </a:lnTo>
                  <a:cubicBezTo>
                    <a:pt x="272288" y="0"/>
                    <a:pt x="350774" y="78486"/>
                    <a:pt x="350774" y="175387"/>
                  </a:cubicBezTo>
                  <a:lnTo>
                    <a:pt x="333883" y="175387"/>
                  </a:lnTo>
                  <a:lnTo>
                    <a:pt x="350774" y="175387"/>
                  </a:lnTo>
                  <a:cubicBezTo>
                    <a:pt x="350774" y="272288"/>
                    <a:pt x="272288" y="350774"/>
                    <a:pt x="175387" y="350774"/>
                  </a:cubicBezTo>
                  <a:lnTo>
                    <a:pt x="175387" y="333883"/>
                  </a:lnTo>
                  <a:lnTo>
                    <a:pt x="175387" y="350774"/>
                  </a:lnTo>
                  <a:cubicBezTo>
                    <a:pt x="78486" y="350901"/>
                    <a:pt x="0" y="272288"/>
                    <a:pt x="0" y="175387"/>
                  </a:cubicBezTo>
                  <a:lnTo>
                    <a:pt x="16891" y="175387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0" y="175387"/>
                  </a:lnTo>
                  <a:moveTo>
                    <a:pt x="33909" y="175387"/>
                  </a:moveTo>
                  <a:cubicBezTo>
                    <a:pt x="33909" y="184785"/>
                    <a:pt x="26289" y="192278"/>
                    <a:pt x="17018" y="192278"/>
                  </a:cubicBezTo>
                  <a:cubicBezTo>
                    <a:pt x="7747" y="192278"/>
                    <a:pt x="0" y="184785"/>
                    <a:pt x="0" y="175387"/>
                  </a:cubicBezTo>
                  <a:cubicBezTo>
                    <a:pt x="0" y="165989"/>
                    <a:pt x="7620" y="158496"/>
                    <a:pt x="16891" y="158496"/>
                  </a:cubicBezTo>
                  <a:cubicBezTo>
                    <a:pt x="26162" y="158496"/>
                    <a:pt x="33782" y="166116"/>
                    <a:pt x="33782" y="175387"/>
                  </a:cubicBezTo>
                  <a:cubicBezTo>
                    <a:pt x="33782" y="253619"/>
                    <a:pt x="97155" y="316992"/>
                    <a:pt x="175387" y="316992"/>
                  </a:cubicBezTo>
                  <a:cubicBezTo>
                    <a:pt x="253619" y="316992"/>
                    <a:pt x="316992" y="253619"/>
                    <a:pt x="316992" y="175387"/>
                  </a:cubicBezTo>
                  <a:cubicBezTo>
                    <a:pt x="316992" y="97155"/>
                    <a:pt x="253619" y="33782"/>
                    <a:pt x="175387" y="33782"/>
                  </a:cubicBezTo>
                  <a:lnTo>
                    <a:pt x="175387" y="16891"/>
                  </a:lnTo>
                  <a:lnTo>
                    <a:pt x="175387" y="33909"/>
                  </a:lnTo>
                  <a:cubicBezTo>
                    <a:pt x="97282" y="33909"/>
                    <a:pt x="33909" y="97282"/>
                    <a:pt x="33909" y="175387"/>
                  </a:cubicBezTo>
                  <a:close/>
                </a:path>
              </a:pathLst>
            </a:custGeom>
            <a:solidFill>
              <a:srgbClr val="95A5A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97275" y="8772496"/>
            <a:ext cx="2286000" cy="621792"/>
            <a:chOff x="0" y="0"/>
            <a:chExt cx="3048000" cy="8290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48000" cy="829056"/>
            </a:xfrm>
            <a:custGeom>
              <a:avLst/>
              <a:gdLst/>
              <a:ahLst/>
              <a:cxnLst/>
              <a:rect r="r" b="b" t="t" l="l"/>
              <a:pathLst>
                <a:path h="82905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3048000" cy="857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7"/>
                </a:lnSpc>
              </a:pPr>
              <a:r>
                <a:rPr lang="en-US" sz="1239">
                  <a:solidFill>
                    <a:srgbClr val="1A2340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Kept Separate (Low Confidence)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462018" y="8942679"/>
            <a:ext cx="4414523" cy="281435"/>
            <a:chOff x="0" y="0"/>
            <a:chExt cx="5886031" cy="37524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5852160" cy="341376"/>
            </a:xfrm>
            <a:custGeom>
              <a:avLst/>
              <a:gdLst/>
              <a:ahLst/>
              <a:cxnLst/>
              <a:rect r="r" b="b" t="t" l="l"/>
              <a:pathLst>
                <a:path h="3413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E9EFF4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885942" cy="375160"/>
            </a:xfrm>
            <a:custGeom>
              <a:avLst/>
              <a:gdLst/>
              <a:ahLst/>
              <a:cxnLst/>
              <a:rect r="r" b="b" t="t" l="l"/>
              <a:pathLst>
                <a:path h="375160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358267"/>
                  </a:lnTo>
                  <a:cubicBezTo>
                    <a:pt x="5885942" y="367665"/>
                    <a:pt x="5878322" y="375158"/>
                    <a:pt x="5869051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5869051" y="341376"/>
                  </a:lnTo>
                  <a:lnTo>
                    <a:pt x="5869051" y="358267"/>
                  </a:lnTo>
                  <a:lnTo>
                    <a:pt x="5852160" y="358267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EFF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462018" y="8942679"/>
            <a:ext cx="1279436" cy="281435"/>
            <a:chOff x="0" y="0"/>
            <a:chExt cx="1705915" cy="37524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672082" cy="341376"/>
            </a:xfrm>
            <a:custGeom>
              <a:avLst/>
              <a:gdLst/>
              <a:ahLst/>
              <a:cxnLst/>
              <a:rect r="r" b="b" t="t" l="l"/>
              <a:pathLst>
                <a:path h="341376" w="1672082">
                  <a:moveTo>
                    <a:pt x="0" y="0"/>
                  </a:moveTo>
                  <a:lnTo>
                    <a:pt x="1672082" y="0"/>
                  </a:lnTo>
                  <a:lnTo>
                    <a:pt x="1672082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705864" cy="375160"/>
            </a:xfrm>
            <a:custGeom>
              <a:avLst/>
              <a:gdLst/>
              <a:ahLst/>
              <a:cxnLst/>
              <a:rect r="r" b="b" t="t" l="l"/>
              <a:pathLst>
                <a:path h="375160" w="1705864">
                  <a:moveTo>
                    <a:pt x="16891" y="0"/>
                  </a:moveTo>
                  <a:lnTo>
                    <a:pt x="1688973" y="0"/>
                  </a:lnTo>
                  <a:cubicBezTo>
                    <a:pt x="1698371" y="0"/>
                    <a:pt x="1705864" y="7620"/>
                    <a:pt x="1705864" y="16891"/>
                  </a:cubicBezTo>
                  <a:lnTo>
                    <a:pt x="1705864" y="358267"/>
                  </a:lnTo>
                  <a:cubicBezTo>
                    <a:pt x="1705864" y="367665"/>
                    <a:pt x="1698244" y="375158"/>
                    <a:pt x="1688973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688973" y="341376"/>
                  </a:lnTo>
                  <a:lnTo>
                    <a:pt x="1688973" y="358267"/>
                  </a:lnTo>
                  <a:lnTo>
                    <a:pt x="1672082" y="358267"/>
                  </a:lnTo>
                  <a:lnTo>
                    <a:pt x="1672082" y="16891"/>
                  </a:lnTo>
                  <a:lnTo>
                    <a:pt x="1688973" y="16891"/>
                  </a:lnTo>
                  <a:lnTo>
                    <a:pt x="168897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936987" y="8772496"/>
            <a:ext cx="694944" cy="621792"/>
            <a:chOff x="0" y="0"/>
            <a:chExt cx="926592" cy="8290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26592" cy="829056"/>
            </a:xfrm>
            <a:custGeom>
              <a:avLst/>
              <a:gdLst/>
              <a:ahLst/>
              <a:cxnLst/>
              <a:rect r="r" b="b" t="t" l="l"/>
              <a:pathLst>
                <a:path h="82905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2659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sz="1300" b="true">
                  <a:solidFill>
                    <a:srgbClr val="64748B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10%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31515" y="9083397"/>
            <a:ext cx="7808976" cy="914400"/>
            <a:chOff x="0" y="0"/>
            <a:chExt cx="10411968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411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1968">
                  <a:moveTo>
                    <a:pt x="0" y="0"/>
                  </a:moveTo>
                  <a:lnTo>
                    <a:pt x="10411968" y="0"/>
                  </a:lnTo>
                  <a:lnTo>
                    <a:pt x="10411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02" r="0" b="-11640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411968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7"/>
                </a:lnSpc>
              </a:pPr>
              <a:r>
                <a:rPr lang="en-US" sz="1239" b="true">
                  <a:solidFill>
                    <a:srgbClr val="1E2761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Total Records Processed:</a:t>
              </a:r>
              <a:r>
                <a:rPr lang="en-US" sz="1239">
                  <a:solidFill>
                    <a:srgbClr val="3A4A6B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  Across 40+ departments</a:t>
              </a:r>
            </a:p>
            <a:p>
              <a:pPr algn="l">
                <a:lnSpc>
                  <a:spcPts val="1487"/>
                </a:lnSpc>
              </a:pPr>
              <a:r>
                <a:rPr lang="en-US" sz="1239" i="true">
                  <a:solidFill>
                    <a:srgbClr val="64748B"/>
                  </a:solidFill>
                  <a:latin typeface="Agrandir Narrow Italics"/>
                  <a:ea typeface="Agrandir Narrow Italics"/>
                  <a:cs typeface="Agrandir Narrow Italics"/>
                  <a:sym typeface="Agrandir Narrow Italics"/>
                </a:rPr>
                <a:t>Human review ensures no wrong merges are silently committed.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131298" y="1481175"/>
            <a:ext cx="8620763" cy="4707131"/>
            <a:chOff x="0" y="0"/>
            <a:chExt cx="11494351" cy="62761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1460481" cy="6242304"/>
            </a:xfrm>
            <a:custGeom>
              <a:avLst/>
              <a:gdLst/>
              <a:ahLst/>
              <a:cxnLst/>
              <a:rect r="r" b="b" t="t" l="l"/>
              <a:pathLst>
                <a:path h="624230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6242304"/>
                  </a:lnTo>
                  <a:lnTo>
                    <a:pt x="0" y="62423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494262" cy="6276086"/>
            </a:xfrm>
            <a:custGeom>
              <a:avLst/>
              <a:gdLst/>
              <a:ahLst/>
              <a:cxnLst/>
              <a:rect r="r" b="b" t="t" l="l"/>
              <a:pathLst>
                <a:path h="6276086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6259195"/>
                  </a:lnTo>
                  <a:cubicBezTo>
                    <a:pt x="11494262" y="6268593"/>
                    <a:pt x="11486642" y="6276086"/>
                    <a:pt x="11477372" y="6276086"/>
                  </a:cubicBezTo>
                  <a:lnTo>
                    <a:pt x="16891" y="6276086"/>
                  </a:lnTo>
                  <a:cubicBezTo>
                    <a:pt x="7493" y="6276086"/>
                    <a:pt x="0" y="6268466"/>
                    <a:pt x="0" y="6259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59195"/>
                  </a:lnTo>
                  <a:lnTo>
                    <a:pt x="16891" y="6259195"/>
                  </a:lnTo>
                  <a:lnTo>
                    <a:pt x="16891" y="6242304"/>
                  </a:lnTo>
                  <a:lnTo>
                    <a:pt x="11477372" y="6242304"/>
                  </a:lnTo>
                  <a:lnTo>
                    <a:pt x="11477372" y="6259195"/>
                  </a:lnTo>
                  <a:lnTo>
                    <a:pt x="11460480" y="625919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aphicFrame>
        <p:nvGraphicFramePr>
          <p:cNvPr name="Table 84" id="84"/>
          <p:cNvGraphicFramePr>
            <a:graphicFrameLocks noGrp="true"/>
          </p:cNvGraphicFramePr>
          <p:nvPr/>
        </p:nvGraphicFramePr>
        <p:xfrm>
          <a:off x="9235435" y="2024224"/>
          <a:ext cx="8407400" cy="3928312"/>
        </p:xfrm>
        <a:graphic>
          <a:graphicData uri="http://schemas.openxmlformats.org/drawingml/2006/table">
            <a:tbl>
              <a:tblPr/>
              <a:tblGrid>
                <a:gridCol w="2475737"/>
                <a:gridCol w="5931663"/>
              </a:tblGrid>
              <a:tr h="505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Collection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Purpose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</a:tr>
              <a:tr h="6845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5B21B6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Business Names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6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Finds similar business names during fuzzy matching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45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5B21B6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Address Tokens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6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Matches addresses with spelling variations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6845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5B21B6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Reviewer Decisions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6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Finds similar past cases to assist reviewers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45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5B21B6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Learned Patterns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6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Prevents duplicate normalisation rules from being generated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6845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5B21B6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SHAP Explanations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6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Retrieves similar explanations for classification decisions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5" id="85"/>
          <p:cNvGrpSpPr/>
          <p:nvPr/>
        </p:nvGrpSpPr>
        <p:grpSpPr>
          <a:xfrm rot="0">
            <a:off x="9131298" y="6272631"/>
            <a:ext cx="8620763" cy="3683003"/>
            <a:chOff x="0" y="0"/>
            <a:chExt cx="11494351" cy="491067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1460481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4942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4893691"/>
                  </a:lnTo>
                  <a:cubicBezTo>
                    <a:pt x="11494262" y="4903089"/>
                    <a:pt x="11486642" y="4910582"/>
                    <a:pt x="11477372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1477372" y="4876800"/>
                  </a:lnTo>
                  <a:lnTo>
                    <a:pt x="11477372" y="4893691"/>
                  </a:lnTo>
                  <a:lnTo>
                    <a:pt x="11460480" y="489369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277602" y="6857847"/>
            <a:ext cx="2738123" cy="2914907"/>
            <a:chOff x="0" y="0"/>
            <a:chExt cx="3650831" cy="388654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3616960" cy="3852672"/>
            </a:xfrm>
            <a:custGeom>
              <a:avLst/>
              <a:gdLst/>
              <a:ahLst/>
              <a:cxnLst/>
              <a:rect r="r" b="b" t="t" l="l"/>
              <a:pathLst>
                <a:path h="3852672" w="3616960">
                  <a:moveTo>
                    <a:pt x="0" y="0"/>
                  </a:moveTo>
                  <a:lnTo>
                    <a:pt x="3616960" y="0"/>
                  </a:lnTo>
                  <a:lnTo>
                    <a:pt x="3616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EF3E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0742" cy="3886454"/>
            </a:xfrm>
            <a:custGeom>
              <a:avLst/>
              <a:gdLst/>
              <a:ahLst/>
              <a:cxnLst/>
              <a:rect r="r" b="b" t="t" l="l"/>
              <a:pathLst>
                <a:path h="3886454" w="3650742">
                  <a:moveTo>
                    <a:pt x="16891" y="0"/>
                  </a:moveTo>
                  <a:lnTo>
                    <a:pt x="3633851" y="0"/>
                  </a:lnTo>
                  <a:cubicBezTo>
                    <a:pt x="3643249" y="0"/>
                    <a:pt x="3650742" y="7620"/>
                    <a:pt x="3650742" y="16891"/>
                  </a:cubicBezTo>
                  <a:lnTo>
                    <a:pt x="3650742" y="3869563"/>
                  </a:lnTo>
                  <a:cubicBezTo>
                    <a:pt x="3650742" y="3878961"/>
                    <a:pt x="3643122" y="3886454"/>
                    <a:pt x="3633851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3633851" y="3852672"/>
                  </a:lnTo>
                  <a:lnTo>
                    <a:pt x="3633851" y="3869563"/>
                  </a:lnTo>
                  <a:lnTo>
                    <a:pt x="3616960" y="3869563"/>
                  </a:lnTo>
                  <a:lnTo>
                    <a:pt x="3616960" y="16891"/>
                  </a:lnTo>
                  <a:lnTo>
                    <a:pt x="3633851" y="16891"/>
                  </a:lnTo>
                  <a:lnTo>
                    <a:pt x="3633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C8A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423906" y="7040727"/>
            <a:ext cx="2445515" cy="427739"/>
            <a:chOff x="0" y="0"/>
            <a:chExt cx="3260687" cy="57031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3226816" cy="536448"/>
            </a:xfrm>
            <a:custGeom>
              <a:avLst/>
              <a:gdLst/>
              <a:ahLst/>
              <a:cxnLst/>
              <a:rect r="r" b="b" t="t" l="l"/>
              <a:pathLst>
                <a:path h="536448" w="3226816">
                  <a:moveTo>
                    <a:pt x="0" y="146304"/>
                  </a:moveTo>
                  <a:cubicBezTo>
                    <a:pt x="0" y="65532"/>
                    <a:pt x="68961" y="0"/>
                    <a:pt x="153924" y="0"/>
                  </a:cubicBezTo>
                  <a:lnTo>
                    <a:pt x="3072892" y="0"/>
                  </a:lnTo>
                  <a:cubicBezTo>
                    <a:pt x="3157855" y="0"/>
                    <a:pt x="3226816" y="65532"/>
                    <a:pt x="3226816" y="146304"/>
                  </a:cubicBezTo>
                  <a:lnTo>
                    <a:pt x="3226816" y="390144"/>
                  </a:lnTo>
                  <a:cubicBezTo>
                    <a:pt x="3226816" y="470916"/>
                    <a:pt x="3157855" y="536448"/>
                    <a:pt x="3072892" y="536448"/>
                  </a:cubicBezTo>
                  <a:lnTo>
                    <a:pt x="153924" y="536448"/>
                  </a:lnTo>
                  <a:cubicBezTo>
                    <a:pt x="68961" y="536448"/>
                    <a:pt x="0" y="470916"/>
                    <a:pt x="0" y="390144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260598" cy="570230"/>
            </a:xfrm>
            <a:custGeom>
              <a:avLst/>
              <a:gdLst/>
              <a:ahLst/>
              <a:cxnLst/>
              <a:rect r="r" b="b" t="t" l="l"/>
              <a:pathLst>
                <a:path h="570230" w="3260598">
                  <a:moveTo>
                    <a:pt x="0" y="163195"/>
                  </a:moveTo>
                  <a:cubicBezTo>
                    <a:pt x="0" y="72263"/>
                    <a:pt x="77343" y="0"/>
                    <a:pt x="170815" y="0"/>
                  </a:cubicBezTo>
                  <a:lnTo>
                    <a:pt x="3089783" y="0"/>
                  </a:lnTo>
                  <a:lnTo>
                    <a:pt x="3089783" y="16891"/>
                  </a:lnTo>
                  <a:lnTo>
                    <a:pt x="3089783" y="0"/>
                  </a:lnTo>
                  <a:cubicBezTo>
                    <a:pt x="3183382" y="0"/>
                    <a:pt x="3260598" y="72263"/>
                    <a:pt x="3260598" y="163195"/>
                  </a:cubicBezTo>
                  <a:lnTo>
                    <a:pt x="3243707" y="163195"/>
                  </a:lnTo>
                  <a:lnTo>
                    <a:pt x="3260598" y="163195"/>
                  </a:lnTo>
                  <a:lnTo>
                    <a:pt x="3260598" y="407035"/>
                  </a:lnTo>
                  <a:lnTo>
                    <a:pt x="3243707" y="407035"/>
                  </a:lnTo>
                  <a:lnTo>
                    <a:pt x="3260598" y="407035"/>
                  </a:lnTo>
                  <a:cubicBezTo>
                    <a:pt x="3260598" y="497967"/>
                    <a:pt x="3183255" y="570230"/>
                    <a:pt x="3089783" y="570230"/>
                  </a:cubicBezTo>
                  <a:lnTo>
                    <a:pt x="3089783" y="553339"/>
                  </a:lnTo>
                  <a:lnTo>
                    <a:pt x="3089783" y="570230"/>
                  </a:lnTo>
                  <a:lnTo>
                    <a:pt x="170815" y="570230"/>
                  </a:lnTo>
                  <a:lnTo>
                    <a:pt x="170815" y="553339"/>
                  </a:lnTo>
                  <a:lnTo>
                    <a:pt x="170815" y="570230"/>
                  </a:lnTo>
                  <a:cubicBezTo>
                    <a:pt x="77343" y="570357"/>
                    <a:pt x="0" y="497967"/>
                    <a:pt x="0" y="407035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07035"/>
                  </a:lnTo>
                  <a:lnTo>
                    <a:pt x="16891" y="407035"/>
                  </a:lnTo>
                  <a:lnTo>
                    <a:pt x="33909" y="407035"/>
                  </a:lnTo>
                  <a:cubicBezTo>
                    <a:pt x="33909" y="477647"/>
                    <a:pt x="94361" y="536448"/>
                    <a:pt x="170942" y="536448"/>
                  </a:cubicBezTo>
                  <a:lnTo>
                    <a:pt x="3089783" y="536448"/>
                  </a:lnTo>
                  <a:cubicBezTo>
                    <a:pt x="3166237" y="536448"/>
                    <a:pt x="3226816" y="477774"/>
                    <a:pt x="3226816" y="407035"/>
                  </a:cubicBezTo>
                  <a:lnTo>
                    <a:pt x="3226816" y="163195"/>
                  </a:lnTo>
                  <a:cubicBezTo>
                    <a:pt x="3226816" y="92583"/>
                    <a:pt x="3166364" y="33782"/>
                    <a:pt x="3089783" y="33782"/>
                  </a:cubicBezTo>
                  <a:lnTo>
                    <a:pt x="170815" y="33782"/>
                  </a:lnTo>
                  <a:lnTo>
                    <a:pt x="170815" y="16891"/>
                  </a:lnTo>
                  <a:lnTo>
                    <a:pt x="170815" y="33909"/>
                  </a:lnTo>
                  <a:cubicBezTo>
                    <a:pt x="94361" y="33909"/>
                    <a:pt x="33909" y="92583"/>
                    <a:pt x="33909" y="163195"/>
                  </a:cubicBez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436603" y="7053424"/>
            <a:ext cx="2420112" cy="402336"/>
            <a:chOff x="0" y="0"/>
            <a:chExt cx="3226816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226816" cy="536448"/>
            </a:xfrm>
            <a:custGeom>
              <a:avLst/>
              <a:gdLst/>
              <a:ahLst/>
              <a:cxnLst/>
              <a:rect r="r" b="b" t="t" l="l"/>
              <a:pathLst>
                <a:path h="536448" w="3226816">
                  <a:moveTo>
                    <a:pt x="0" y="0"/>
                  </a:moveTo>
                  <a:lnTo>
                    <a:pt x="3226816" y="0"/>
                  </a:lnTo>
                  <a:lnTo>
                    <a:pt x="322681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05" r="0" b="-6720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226816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199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CACHE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400027" y="7510624"/>
            <a:ext cx="2493264" cy="365760"/>
            <a:chOff x="0" y="0"/>
            <a:chExt cx="3324352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24352" cy="487680"/>
            </a:xfrm>
            <a:custGeom>
              <a:avLst/>
              <a:gdLst/>
              <a:ahLst/>
              <a:cxnLst/>
              <a:rect r="r" b="b" t="t" l="l"/>
              <a:pathLst>
                <a:path h="487680" w="3324352">
                  <a:moveTo>
                    <a:pt x="0" y="0"/>
                  </a:moveTo>
                  <a:lnTo>
                    <a:pt x="3324352" y="0"/>
                  </a:lnTo>
                  <a:lnTo>
                    <a:pt x="33243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23" r="0" b="-8282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3324352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07B39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Cache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509755" y="7874479"/>
            <a:ext cx="227380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539">
                <a:solidFill>
                  <a:srgbClr val="1A234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Stores blocking keys and candidate pairs during resolution runs for fast lookup without hitting PostgreSQL.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2072618" y="6857847"/>
            <a:ext cx="2738123" cy="2914907"/>
            <a:chOff x="0" y="0"/>
            <a:chExt cx="3650831" cy="388654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3616960" cy="3852672"/>
            </a:xfrm>
            <a:custGeom>
              <a:avLst/>
              <a:gdLst/>
              <a:ahLst/>
              <a:cxnLst/>
              <a:rect r="r" b="b" t="t" l="l"/>
              <a:pathLst>
                <a:path h="3852672" w="3616960">
                  <a:moveTo>
                    <a:pt x="0" y="0"/>
                  </a:moveTo>
                  <a:lnTo>
                    <a:pt x="3616960" y="0"/>
                  </a:lnTo>
                  <a:lnTo>
                    <a:pt x="3616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BEB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50742" cy="3886454"/>
            </a:xfrm>
            <a:custGeom>
              <a:avLst/>
              <a:gdLst/>
              <a:ahLst/>
              <a:cxnLst/>
              <a:rect r="r" b="b" t="t" l="l"/>
              <a:pathLst>
                <a:path h="3886454" w="3650742">
                  <a:moveTo>
                    <a:pt x="16891" y="0"/>
                  </a:moveTo>
                  <a:lnTo>
                    <a:pt x="3633851" y="0"/>
                  </a:lnTo>
                  <a:cubicBezTo>
                    <a:pt x="3643249" y="0"/>
                    <a:pt x="3650742" y="7620"/>
                    <a:pt x="3650742" y="16891"/>
                  </a:cubicBezTo>
                  <a:lnTo>
                    <a:pt x="3650742" y="3869563"/>
                  </a:lnTo>
                  <a:cubicBezTo>
                    <a:pt x="3650742" y="3878961"/>
                    <a:pt x="3643122" y="3886454"/>
                    <a:pt x="3633851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3633851" y="3852672"/>
                  </a:lnTo>
                  <a:lnTo>
                    <a:pt x="3633851" y="3869563"/>
                  </a:lnTo>
                  <a:lnTo>
                    <a:pt x="3616960" y="3869563"/>
                  </a:lnTo>
                  <a:lnTo>
                    <a:pt x="3616960" y="16891"/>
                  </a:lnTo>
                  <a:lnTo>
                    <a:pt x="3633851" y="16891"/>
                  </a:lnTo>
                  <a:lnTo>
                    <a:pt x="3633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DE68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218922" y="7040727"/>
            <a:ext cx="2445515" cy="427739"/>
            <a:chOff x="0" y="0"/>
            <a:chExt cx="3260687" cy="57031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3226816" cy="536448"/>
            </a:xfrm>
            <a:custGeom>
              <a:avLst/>
              <a:gdLst/>
              <a:ahLst/>
              <a:cxnLst/>
              <a:rect r="r" b="b" t="t" l="l"/>
              <a:pathLst>
                <a:path h="536448" w="3226816">
                  <a:moveTo>
                    <a:pt x="0" y="146304"/>
                  </a:moveTo>
                  <a:cubicBezTo>
                    <a:pt x="0" y="65532"/>
                    <a:pt x="68961" y="0"/>
                    <a:pt x="153924" y="0"/>
                  </a:cubicBezTo>
                  <a:lnTo>
                    <a:pt x="3072892" y="0"/>
                  </a:lnTo>
                  <a:cubicBezTo>
                    <a:pt x="3157855" y="0"/>
                    <a:pt x="3226816" y="65532"/>
                    <a:pt x="3226816" y="146304"/>
                  </a:cubicBezTo>
                  <a:lnTo>
                    <a:pt x="3226816" y="390144"/>
                  </a:lnTo>
                  <a:cubicBezTo>
                    <a:pt x="3226816" y="470916"/>
                    <a:pt x="3157855" y="536448"/>
                    <a:pt x="3072892" y="536448"/>
                  </a:cubicBezTo>
                  <a:lnTo>
                    <a:pt x="153924" y="536448"/>
                  </a:lnTo>
                  <a:cubicBezTo>
                    <a:pt x="68961" y="536448"/>
                    <a:pt x="0" y="470916"/>
                    <a:pt x="0" y="390144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260598" cy="570230"/>
            </a:xfrm>
            <a:custGeom>
              <a:avLst/>
              <a:gdLst/>
              <a:ahLst/>
              <a:cxnLst/>
              <a:rect r="r" b="b" t="t" l="l"/>
              <a:pathLst>
                <a:path h="570230" w="3260598">
                  <a:moveTo>
                    <a:pt x="0" y="163195"/>
                  </a:moveTo>
                  <a:cubicBezTo>
                    <a:pt x="0" y="72263"/>
                    <a:pt x="77343" y="0"/>
                    <a:pt x="170815" y="0"/>
                  </a:cubicBezTo>
                  <a:lnTo>
                    <a:pt x="3089783" y="0"/>
                  </a:lnTo>
                  <a:lnTo>
                    <a:pt x="3089783" y="16891"/>
                  </a:lnTo>
                  <a:lnTo>
                    <a:pt x="3089783" y="0"/>
                  </a:lnTo>
                  <a:cubicBezTo>
                    <a:pt x="3183382" y="0"/>
                    <a:pt x="3260598" y="72263"/>
                    <a:pt x="3260598" y="163195"/>
                  </a:cubicBezTo>
                  <a:lnTo>
                    <a:pt x="3243707" y="163195"/>
                  </a:lnTo>
                  <a:lnTo>
                    <a:pt x="3260598" y="163195"/>
                  </a:lnTo>
                  <a:lnTo>
                    <a:pt x="3260598" y="407035"/>
                  </a:lnTo>
                  <a:lnTo>
                    <a:pt x="3243707" y="407035"/>
                  </a:lnTo>
                  <a:lnTo>
                    <a:pt x="3260598" y="407035"/>
                  </a:lnTo>
                  <a:cubicBezTo>
                    <a:pt x="3260598" y="497967"/>
                    <a:pt x="3183255" y="570230"/>
                    <a:pt x="3089783" y="570230"/>
                  </a:cubicBezTo>
                  <a:lnTo>
                    <a:pt x="3089783" y="553339"/>
                  </a:lnTo>
                  <a:lnTo>
                    <a:pt x="3089783" y="570230"/>
                  </a:lnTo>
                  <a:lnTo>
                    <a:pt x="170815" y="570230"/>
                  </a:lnTo>
                  <a:lnTo>
                    <a:pt x="170815" y="553339"/>
                  </a:lnTo>
                  <a:lnTo>
                    <a:pt x="170815" y="570230"/>
                  </a:lnTo>
                  <a:cubicBezTo>
                    <a:pt x="77343" y="570357"/>
                    <a:pt x="0" y="497967"/>
                    <a:pt x="0" y="407035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07035"/>
                  </a:lnTo>
                  <a:lnTo>
                    <a:pt x="16891" y="407035"/>
                  </a:lnTo>
                  <a:lnTo>
                    <a:pt x="33909" y="407035"/>
                  </a:lnTo>
                  <a:cubicBezTo>
                    <a:pt x="33909" y="477647"/>
                    <a:pt x="94361" y="536448"/>
                    <a:pt x="170942" y="536448"/>
                  </a:cubicBezTo>
                  <a:lnTo>
                    <a:pt x="3089783" y="536448"/>
                  </a:lnTo>
                  <a:cubicBezTo>
                    <a:pt x="3166237" y="536448"/>
                    <a:pt x="3226816" y="477774"/>
                    <a:pt x="3226816" y="407035"/>
                  </a:cubicBezTo>
                  <a:lnTo>
                    <a:pt x="3226816" y="163195"/>
                  </a:lnTo>
                  <a:cubicBezTo>
                    <a:pt x="3226816" y="92583"/>
                    <a:pt x="3166364" y="33782"/>
                    <a:pt x="3089783" y="33782"/>
                  </a:cubicBezTo>
                  <a:lnTo>
                    <a:pt x="170815" y="33782"/>
                  </a:lnTo>
                  <a:lnTo>
                    <a:pt x="170815" y="16891"/>
                  </a:lnTo>
                  <a:lnTo>
                    <a:pt x="170815" y="33909"/>
                  </a:lnTo>
                  <a:cubicBezTo>
                    <a:pt x="94361" y="33909"/>
                    <a:pt x="33909" y="92583"/>
                    <a:pt x="33909" y="163195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231619" y="7053424"/>
            <a:ext cx="2420112" cy="402336"/>
            <a:chOff x="0" y="0"/>
            <a:chExt cx="3226816" cy="5364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226816" cy="536448"/>
            </a:xfrm>
            <a:custGeom>
              <a:avLst/>
              <a:gdLst/>
              <a:ahLst/>
              <a:cxnLst/>
              <a:rect r="r" b="b" t="t" l="l"/>
              <a:pathLst>
                <a:path h="536448" w="3226816">
                  <a:moveTo>
                    <a:pt x="0" y="0"/>
                  </a:moveTo>
                  <a:lnTo>
                    <a:pt x="3226816" y="0"/>
                  </a:lnTo>
                  <a:lnTo>
                    <a:pt x="322681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05" r="0" b="-6720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226816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199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QUEUE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195043" y="7510624"/>
            <a:ext cx="2493264" cy="365760"/>
            <a:chOff x="0" y="0"/>
            <a:chExt cx="3324352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324352" cy="487680"/>
            </a:xfrm>
            <a:custGeom>
              <a:avLst/>
              <a:gdLst/>
              <a:ahLst/>
              <a:cxnLst/>
              <a:rect r="r" b="b" t="t" l="l"/>
              <a:pathLst>
                <a:path h="487680" w="3324352">
                  <a:moveTo>
                    <a:pt x="0" y="0"/>
                  </a:moveTo>
                  <a:lnTo>
                    <a:pt x="3324352" y="0"/>
                  </a:lnTo>
                  <a:lnTo>
                    <a:pt x="33243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23" r="0" b="-8282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3324352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97706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Queue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2304771" y="7874479"/>
            <a:ext cx="227380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539">
                <a:solidFill>
                  <a:srgbClr val="1A234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Buffers incoming activity events before writing to the database — prevents overload during high traffic.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4867634" y="6857847"/>
            <a:ext cx="2738123" cy="2914907"/>
            <a:chOff x="0" y="0"/>
            <a:chExt cx="3650831" cy="388654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3616960" cy="3852672"/>
            </a:xfrm>
            <a:custGeom>
              <a:avLst/>
              <a:gdLst/>
              <a:ahLst/>
              <a:cxnLst/>
              <a:rect r="r" b="b" t="t" l="l"/>
              <a:pathLst>
                <a:path h="3852672" w="3616960">
                  <a:moveTo>
                    <a:pt x="0" y="0"/>
                  </a:moveTo>
                  <a:lnTo>
                    <a:pt x="3616960" y="0"/>
                  </a:lnTo>
                  <a:lnTo>
                    <a:pt x="3616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EF9EC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650742" cy="3886454"/>
            </a:xfrm>
            <a:custGeom>
              <a:avLst/>
              <a:gdLst/>
              <a:ahLst/>
              <a:cxnLst/>
              <a:rect r="r" b="b" t="t" l="l"/>
              <a:pathLst>
                <a:path h="3886454" w="3650742">
                  <a:moveTo>
                    <a:pt x="16891" y="0"/>
                  </a:moveTo>
                  <a:lnTo>
                    <a:pt x="3633851" y="0"/>
                  </a:lnTo>
                  <a:cubicBezTo>
                    <a:pt x="3643249" y="0"/>
                    <a:pt x="3650742" y="7620"/>
                    <a:pt x="3650742" y="16891"/>
                  </a:cubicBezTo>
                  <a:lnTo>
                    <a:pt x="3650742" y="3869563"/>
                  </a:lnTo>
                  <a:cubicBezTo>
                    <a:pt x="3650742" y="3878961"/>
                    <a:pt x="3643122" y="3886454"/>
                    <a:pt x="3633851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3633851" y="3852672"/>
                  </a:lnTo>
                  <a:lnTo>
                    <a:pt x="3633851" y="3869563"/>
                  </a:lnTo>
                  <a:lnTo>
                    <a:pt x="3616960" y="3869563"/>
                  </a:lnTo>
                  <a:lnTo>
                    <a:pt x="3616960" y="16891"/>
                  </a:lnTo>
                  <a:lnTo>
                    <a:pt x="3633851" y="16891"/>
                  </a:lnTo>
                  <a:lnTo>
                    <a:pt x="3633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D08A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5013938" y="7040727"/>
            <a:ext cx="2445515" cy="427739"/>
            <a:chOff x="0" y="0"/>
            <a:chExt cx="3260687" cy="57031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6891" y="16891"/>
              <a:ext cx="3226816" cy="536448"/>
            </a:xfrm>
            <a:custGeom>
              <a:avLst/>
              <a:gdLst/>
              <a:ahLst/>
              <a:cxnLst/>
              <a:rect r="r" b="b" t="t" l="l"/>
              <a:pathLst>
                <a:path h="536448" w="3226816">
                  <a:moveTo>
                    <a:pt x="0" y="146304"/>
                  </a:moveTo>
                  <a:cubicBezTo>
                    <a:pt x="0" y="65532"/>
                    <a:pt x="68961" y="0"/>
                    <a:pt x="153924" y="0"/>
                  </a:cubicBezTo>
                  <a:lnTo>
                    <a:pt x="3072892" y="0"/>
                  </a:lnTo>
                  <a:cubicBezTo>
                    <a:pt x="3157855" y="0"/>
                    <a:pt x="3226816" y="65532"/>
                    <a:pt x="3226816" y="146304"/>
                  </a:cubicBezTo>
                  <a:lnTo>
                    <a:pt x="3226816" y="390144"/>
                  </a:lnTo>
                  <a:cubicBezTo>
                    <a:pt x="3226816" y="470916"/>
                    <a:pt x="3157855" y="536448"/>
                    <a:pt x="3072892" y="536448"/>
                  </a:cubicBezTo>
                  <a:lnTo>
                    <a:pt x="153924" y="536448"/>
                  </a:lnTo>
                  <a:cubicBezTo>
                    <a:pt x="68961" y="536448"/>
                    <a:pt x="0" y="470916"/>
                    <a:pt x="0" y="390144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260598" cy="570230"/>
            </a:xfrm>
            <a:custGeom>
              <a:avLst/>
              <a:gdLst/>
              <a:ahLst/>
              <a:cxnLst/>
              <a:rect r="r" b="b" t="t" l="l"/>
              <a:pathLst>
                <a:path h="570230" w="3260598">
                  <a:moveTo>
                    <a:pt x="0" y="163195"/>
                  </a:moveTo>
                  <a:cubicBezTo>
                    <a:pt x="0" y="72263"/>
                    <a:pt x="77343" y="0"/>
                    <a:pt x="170815" y="0"/>
                  </a:cubicBezTo>
                  <a:lnTo>
                    <a:pt x="3089783" y="0"/>
                  </a:lnTo>
                  <a:lnTo>
                    <a:pt x="3089783" y="16891"/>
                  </a:lnTo>
                  <a:lnTo>
                    <a:pt x="3089783" y="0"/>
                  </a:lnTo>
                  <a:cubicBezTo>
                    <a:pt x="3183382" y="0"/>
                    <a:pt x="3260598" y="72263"/>
                    <a:pt x="3260598" y="163195"/>
                  </a:cubicBezTo>
                  <a:lnTo>
                    <a:pt x="3243707" y="163195"/>
                  </a:lnTo>
                  <a:lnTo>
                    <a:pt x="3260598" y="163195"/>
                  </a:lnTo>
                  <a:lnTo>
                    <a:pt x="3260598" y="407035"/>
                  </a:lnTo>
                  <a:lnTo>
                    <a:pt x="3243707" y="407035"/>
                  </a:lnTo>
                  <a:lnTo>
                    <a:pt x="3260598" y="407035"/>
                  </a:lnTo>
                  <a:cubicBezTo>
                    <a:pt x="3260598" y="497967"/>
                    <a:pt x="3183255" y="570230"/>
                    <a:pt x="3089783" y="570230"/>
                  </a:cubicBezTo>
                  <a:lnTo>
                    <a:pt x="3089783" y="553339"/>
                  </a:lnTo>
                  <a:lnTo>
                    <a:pt x="3089783" y="570230"/>
                  </a:lnTo>
                  <a:lnTo>
                    <a:pt x="170815" y="570230"/>
                  </a:lnTo>
                  <a:lnTo>
                    <a:pt x="170815" y="553339"/>
                  </a:lnTo>
                  <a:lnTo>
                    <a:pt x="170815" y="570230"/>
                  </a:lnTo>
                  <a:cubicBezTo>
                    <a:pt x="77343" y="570357"/>
                    <a:pt x="0" y="497967"/>
                    <a:pt x="0" y="407035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07035"/>
                  </a:lnTo>
                  <a:lnTo>
                    <a:pt x="16891" y="407035"/>
                  </a:lnTo>
                  <a:lnTo>
                    <a:pt x="33909" y="407035"/>
                  </a:lnTo>
                  <a:cubicBezTo>
                    <a:pt x="33909" y="477647"/>
                    <a:pt x="94361" y="536448"/>
                    <a:pt x="170942" y="536448"/>
                  </a:cubicBezTo>
                  <a:lnTo>
                    <a:pt x="3089783" y="536448"/>
                  </a:lnTo>
                  <a:cubicBezTo>
                    <a:pt x="3166237" y="536448"/>
                    <a:pt x="3226816" y="477774"/>
                    <a:pt x="3226816" y="407035"/>
                  </a:cubicBezTo>
                  <a:lnTo>
                    <a:pt x="3226816" y="163195"/>
                  </a:lnTo>
                  <a:cubicBezTo>
                    <a:pt x="3226816" y="92583"/>
                    <a:pt x="3166364" y="33782"/>
                    <a:pt x="3089783" y="33782"/>
                  </a:cubicBezTo>
                  <a:lnTo>
                    <a:pt x="170815" y="33782"/>
                  </a:lnTo>
                  <a:lnTo>
                    <a:pt x="170815" y="16891"/>
                  </a:lnTo>
                  <a:lnTo>
                    <a:pt x="170815" y="33909"/>
                  </a:lnTo>
                  <a:cubicBezTo>
                    <a:pt x="94361" y="33909"/>
                    <a:pt x="33909" y="92583"/>
                    <a:pt x="33909" y="163195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5026635" y="7053424"/>
            <a:ext cx="2420112" cy="402336"/>
            <a:chOff x="0" y="0"/>
            <a:chExt cx="3226816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226816" cy="536448"/>
            </a:xfrm>
            <a:custGeom>
              <a:avLst/>
              <a:gdLst/>
              <a:ahLst/>
              <a:cxnLst/>
              <a:rect r="r" b="b" t="t" l="l"/>
              <a:pathLst>
                <a:path h="536448" w="3226816">
                  <a:moveTo>
                    <a:pt x="0" y="0"/>
                  </a:moveTo>
                  <a:lnTo>
                    <a:pt x="3226816" y="0"/>
                  </a:lnTo>
                  <a:lnTo>
                    <a:pt x="322681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05" r="0" b="-67205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226816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199">
                  <a:solidFill>
                    <a:srgbClr val="FFFFFF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PUB/SUB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990059" y="7510624"/>
            <a:ext cx="2493264" cy="365760"/>
            <a:chOff x="0" y="0"/>
            <a:chExt cx="3324352" cy="4876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324352" cy="487680"/>
            </a:xfrm>
            <a:custGeom>
              <a:avLst/>
              <a:gdLst/>
              <a:ahLst/>
              <a:cxnLst/>
              <a:rect r="r" b="b" t="t" l="l"/>
              <a:pathLst>
                <a:path h="487680" w="3324352">
                  <a:moveTo>
                    <a:pt x="0" y="0"/>
                  </a:moveTo>
                  <a:lnTo>
                    <a:pt x="3324352" y="0"/>
                  </a:lnTo>
                  <a:lnTo>
                    <a:pt x="33243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23" r="0" b="-82823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3324352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45309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Pub/Sub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5099787" y="7874479"/>
            <a:ext cx="227380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539">
                <a:solidFill>
                  <a:srgbClr val="1A234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Instantly notifies the reviewer dashboard when a new case lands in the review queue — no page refresh needed.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9162283" y="1530448"/>
            <a:ext cx="8321040" cy="493776"/>
            <a:chOff x="0" y="0"/>
            <a:chExt cx="11094720" cy="65836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66675"/>
              <a:ext cx="11094720" cy="725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VECTOR / INDEX CO</a:t>
              </a: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LLECTIONS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581655" y="6546951"/>
            <a:ext cx="8321040" cy="493776"/>
            <a:chOff x="0" y="0"/>
            <a:chExt cx="11094720" cy="65836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66675"/>
              <a:ext cx="11094720" cy="725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MATCH DI</a:t>
              </a: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STRIBUTION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321795" y="6306921"/>
            <a:ext cx="8321040" cy="493776"/>
            <a:chOff x="0" y="0"/>
            <a:chExt cx="11094720" cy="65836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66675"/>
              <a:ext cx="11094720" cy="725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REDI</a:t>
              </a:r>
              <a:r>
                <a:rPr lang="en-US" b="true" sz="2199" spc="234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S ROLES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3348"/>
          </a:xfrm>
          <a:custGeom>
            <a:avLst/>
            <a:gdLst/>
            <a:ahLst/>
            <a:cxnLst/>
            <a:rect r="r" b="b" t="t" l="l"/>
            <a:pathLst>
              <a:path h="10283348" w="18288000">
                <a:moveTo>
                  <a:pt x="0" y="0"/>
                </a:moveTo>
                <a:lnTo>
                  <a:pt x="18288000" y="0"/>
                </a:lnTo>
                <a:lnTo>
                  <a:pt x="18288000" y="10283348"/>
                </a:lnTo>
                <a:lnTo>
                  <a:pt x="0" y="10283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78800" y="343268"/>
            <a:ext cx="9130401" cy="859641"/>
            <a:chOff x="0" y="0"/>
            <a:chExt cx="2404715" cy="226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4715" cy="226407"/>
            </a:xfrm>
            <a:custGeom>
              <a:avLst/>
              <a:gdLst/>
              <a:ahLst/>
              <a:cxnLst/>
              <a:rect r="r" b="b" t="t" l="l"/>
              <a:pathLst>
                <a:path h="226407" w="2404715">
                  <a:moveTo>
                    <a:pt x="43244" y="0"/>
                  </a:moveTo>
                  <a:lnTo>
                    <a:pt x="2361470" y="0"/>
                  </a:lnTo>
                  <a:cubicBezTo>
                    <a:pt x="2385353" y="0"/>
                    <a:pt x="2404715" y="19361"/>
                    <a:pt x="2404715" y="43244"/>
                  </a:cubicBezTo>
                  <a:lnTo>
                    <a:pt x="2404715" y="183163"/>
                  </a:lnTo>
                  <a:cubicBezTo>
                    <a:pt x="2404715" y="207046"/>
                    <a:pt x="2385353" y="226407"/>
                    <a:pt x="2361470" y="226407"/>
                  </a:cubicBezTo>
                  <a:lnTo>
                    <a:pt x="43244" y="226407"/>
                  </a:lnTo>
                  <a:cubicBezTo>
                    <a:pt x="19361" y="226407"/>
                    <a:pt x="0" y="207046"/>
                    <a:pt x="0" y="183163"/>
                  </a:cubicBezTo>
                  <a:lnTo>
                    <a:pt x="0" y="43244"/>
                  </a:lnTo>
                  <a:cubicBezTo>
                    <a:pt x="0" y="19361"/>
                    <a:pt x="19361" y="0"/>
                    <a:pt x="43244" y="0"/>
                  </a:cubicBezTo>
                  <a:close/>
                </a:path>
              </a:pathLst>
            </a:custGeom>
            <a:solidFill>
              <a:srgbClr val="2150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2404715" cy="350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198482" y="384150"/>
            <a:ext cx="3891037" cy="6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EXPECTED IMPACT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48640" y="1097280"/>
          <a:ext cx="17203426" cy="4299785"/>
        </p:xfrm>
        <a:graphic>
          <a:graphicData uri="http://schemas.openxmlformats.org/drawingml/2006/table">
            <a:tbl>
              <a:tblPr/>
              <a:tblGrid>
                <a:gridCol w="2833477"/>
                <a:gridCol w="3920566"/>
                <a:gridCol w="3920566"/>
                <a:gridCol w="6528818"/>
              </a:tblGrid>
              <a:tr h="543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Without UBID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With UBID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Measurable Impact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E8"/>
                    </a:solidFill>
                  </a:tcPr>
                </a:tc>
              </a:tr>
              <a:tr h="588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Business Identification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Manual search across 40+ systems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One UBID lookup — instant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From days to milliseconds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Cross-Department View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Impossible — no shared 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Full activity history in one place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40+ systems connected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88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Match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0% — no matching exists today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Auto-linked + reviewer verified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Continuously improving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Wrong Merges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N/A — no linking attempted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Reviewer catches all edge cases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Zero silent wrong links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811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Activity Classification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Manual, outdated, unreliable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Auto-classified daily — Active / Dormant / Closed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Real-time business status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Compliance Queries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Weeks of manual data pulling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A234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Answered in seconds from dashboard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A234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From weeks to seconds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535943" y="5620007"/>
            <a:ext cx="8346443" cy="4451099"/>
            <a:chOff x="0" y="0"/>
            <a:chExt cx="11128591" cy="5934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5900928"/>
            </a:xfrm>
            <a:custGeom>
              <a:avLst/>
              <a:gdLst/>
              <a:ahLst/>
              <a:cxnLst/>
              <a:rect r="r" b="b" t="t" l="l"/>
              <a:pathLst>
                <a:path h="59009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900928"/>
                  </a:lnTo>
                  <a:lnTo>
                    <a:pt x="0" y="59009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5934710"/>
            </a:xfrm>
            <a:custGeom>
              <a:avLst/>
              <a:gdLst/>
              <a:ahLst/>
              <a:cxnLst/>
              <a:rect r="r" b="b" t="t" l="l"/>
              <a:pathLst>
                <a:path h="5934710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917819"/>
                  </a:lnTo>
                  <a:cubicBezTo>
                    <a:pt x="11128501" y="5927217"/>
                    <a:pt x="11120882" y="5934710"/>
                    <a:pt x="11111611" y="5934710"/>
                  </a:cubicBezTo>
                  <a:lnTo>
                    <a:pt x="16891" y="5934710"/>
                  </a:lnTo>
                  <a:cubicBezTo>
                    <a:pt x="7493" y="5934710"/>
                    <a:pt x="0" y="5927090"/>
                    <a:pt x="0" y="591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917819"/>
                  </a:lnTo>
                  <a:lnTo>
                    <a:pt x="16891" y="5917819"/>
                  </a:lnTo>
                  <a:lnTo>
                    <a:pt x="16891" y="5900928"/>
                  </a:lnTo>
                  <a:lnTo>
                    <a:pt x="11111611" y="5900928"/>
                  </a:lnTo>
                  <a:lnTo>
                    <a:pt x="11111611" y="5917819"/>
                  </a:lnTo>
                  <a:lnTo>
                    <a:pt x="11094720" y="591781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1346" y="5645658"/>
            <a:ext cx="8321040" cy="493776"/>
            <a:chOff x="0" y="0"/>
            <a:chExt cx="11094720" cy="65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094720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b="true" sz="1999" spc="213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GOVERNMENT COMPLIANCE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823" y="6296663"/>
            <a:ext cx="98555" cy="775211"/>
            <a:chOff x="0" y="0"/>
            <a:chExt cx="131407" cy="10336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6272784"/>
            <a:ext cx="7772400" cy="365760"/>
            <a:chOff x="0" y="0"/>
            <a:chExt cx="103632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3632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1E2761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100% On-Premise: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05840" y="6600063"/>
            <a:ext cx="75895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All data stays inside Karnataka's own servers. Nothing goes to any external cloud or third party.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8823" y="7229351"/>
            <a:ext cx="98555" cy="775211"/>
            <a:chOff x="0" y="0"/>
            <a:chExt cx="131407" cy="10336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7205472"/>
            <a:ext cx="7772400" cy="365760"/>
            <a:chOff x="0" y="0"/>
            <a:chExt cx="10363200" cy="487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63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632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02809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Read-Only by Design: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05840" y="7532751"/>
            <a:ext cx="75895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No source system is ever modified. Existing department data is fully protected.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18823" y="8162039"/>
            <a:ext cx="98555" cy="775211"/>
            <a:chOff x="0" y="0"/>
            <a:chExt cx="131407" cy="10336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8138160"/>
            <a:ext cx="7772400" cy="365760"/>
            <a:chOff x="0" y="0"/>
            <a:chExt cx="1036320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63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3632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2563EB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Full Audit Trail: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05840" y="8465439"/>
            <a:ext cx="75895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Every link, rejection, and classification is logged with timestamp and reviewer ID. Any decision can be traced and reversed.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18823" y="9094727"/>
            <a:ext cx="98555" cy="775211"/>
            <a:chOff x="0" y="0"/>
            <a:chExt cx="131407" cy="10336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9070848"/>
            <a:ext cx="7772400" cy="365760"/>
            <a:chOff x="0" y="0"/>
            <a:chExt cx="1036320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63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3632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b="true">
                  <a:solidFill>
                    <a:srgbClr val="27AE6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The Advantage: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05840" y="9398127"/>
            <a:ext cx="75895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only business registry system deployable across Karnataka's departments without replacing a single existing system.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31303" y="5620007"/>
            <a:ext cx="8620763" cy="4451099"/>
            <a:chOff x="0" y="0"/>
            <a:chExt cx="11494351" cy="59347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1460481" cy="5900928"/>
            </a:xfrm>
            <a:custGeom>
              <a:avLst/>
              <a:gdLst/>
              <a:ahLst/>
              <a:cxnLst/>
              <a:rect r="r" b="b" t="t" l="l"/>
              <a:pathLst>
                <a:path h="5900928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900928"/>
                  </a:lnTo>
                  <a:lnTo>
                    <a:pt x="0" y="59009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494262" cy="5934710"/>
            </a:xfrm>
            <a:custGeom>
              <a:avLst/>
              <a:gdLst/>
              <a:ahLst/>
              <a:cxnLst/>
              <a:rect r="r" b="b" t="t" l="l"/>
              <a:pathLst>
                <a:path h="5934710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917819"/>
                  </a:lnTo>
                  <a:cubicBezTo>
                    <a:pt x="11494262" y="5927217"/>
                    <a:pt x="11486642" y="5934710"/>
                    <a:pt x="11477372" y="5934710"/>
                  </a:cubicBezTo>
                  <a:lnTo>
                    <a:pt x="16891" y="5934710"/>
                  </a:lnTo>
                  <a:cubicBezTo>
                    <a:pt x="7493" y="5934710"/>
                    <a:pt x="0" y="5927090"/>
                    <a:pt x="0" y="591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917819"/>
                  </a:lnTo>
                  <a:lnTo>
                    <a:pt x="16891" y="5917819"/>
                  </a:lnTo>
                  <a:lnTo>
                    <a:pt x="16891" y="5900928"/>
                  </a:lnTo>
                  <a:lnTo>
                    <a:pt x="11477372" y="5900928"/>
                  </a:lnTo>
                  <a:lnTo>
                    <a:pt x="11477372" y="5917819"/>
                  </a:lnTo>
                  <a:lnTo>
                    <a:pt x="11460480" y="591781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DCE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56706" y="5645658"/>
            <a:ext cx="8595360" cy="493776"/>
            <a:chOff x="0" y="0"/>
            <a:chExt cx="11460480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60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83" r="0" b="-28918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146048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b="true" sz="1699" spc="181">
                  <a:solidFill>
                    <a:srgbClr val="1A234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SCALE FOR KARNATAKA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14183" y="6296663"/>
            <a:ext cx="98555" cy="775211"/>
            <a:chOff x="0" y="0"/>
            <a:chExt cx="131407" cy="10336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0" y="6272784"/>
            <a:ext cx="8046720" cy="365760"/>
            <a:chOff x="0" y="0"/>
            <a:chExt cx="10728960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072896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0392B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The Problem: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601200" y="6600063"/>
            <a:ext cx="78638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40+ departments generate thousands of fragmented records with no way to connect them today.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314183" y="7229351"/>
            <a:ext cx="98555" cy="775211"/>
            <a:chOff x="0" y="0"/>
            <a:chExt cx="131407" cy="103361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509760" y="7205472"/>
            <a:ext cx="8046720" cy="365760"/>
            <a:chOff x="0" y="0"/>
            <a:chExt cx="10728960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072896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2809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The UBID Solution: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601200" y="7532751"/>
            <a:ext cx="78638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Smart blocking filters millions of record pairs down to only the most likely matches — reviewers only see genuinely unclear cases, not everything.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314183" y="8162039"/>
            <a:ext cx="98555" cy="775211"/>
            <a:chOff x="0" y="0"/>
            <a:chExt cx="131407" cy="103361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09760" y="8138160"/>
            <a:ext cx="8046720" cy="365760"/>
            <a:chOff x="0" y="0"/>
            <a:chExt cx="1072896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072896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D97706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Horizontal Scalability: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9601200" y="8465439"/>
            <a:ext cx="78638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New departments are added by plugging in one new adapter. No changes needed to the core system.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314183" y="9094727"/>
            <a:ext cx="98555" cy="775211"/>
            <a:chOff x="0" y="0"/>
            <a:chExt cx="131407" cy="103361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97536" cy="999744"/>
            </a:xfrm>
            <a:custGeom>
              <a:avLst/>
              <a:gdLst/>
              <a:ahLst/>
              <a:cxnLst/>
              <a:rect r="r" b="b" t="t" l="l"/>
              <a:pathLst>
                <a:path h="999744" w="97536">
                  <a:moveTo>
                    <a:pt x="0" y="0"/>
                  </a:moveTo>
                  <a:lnTo>
                    <a:pt x="97536" y="0"/>
                  </a:lnTo>
                  <a:lnTo>
                    <a:pt x="97536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1318" cy="1033528"/>
            </a:xfrm>
            <a:custGeom>
              <a:avLst/>
              <a:gdLst/>
              <a:ahLst/>
              <a:cxnLst/>
              <a:rect r="r" b="b" t="t" l="l"/>
              <a:pathLst>
                <a:path h="1033528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16635"/>
                  </a:lnTo>
                  <a:cubicBezTo>
                    <a:pt x="131318" y="1026033"/>
                    <a:pt x="123698" y="1033526"/>
                    <a:pt x="114427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14427" y="999744"/>
                  </a:lnTo>
                  <a:lnTo>
                    <a:pt x="114427" y="1016635"/>
                  </a:lnTo>
                  <a:lnTo>
                    <a:pt x="97536" y="1016635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509760" y="9070848"/>
            <a:ext cx="8046720" cy="365760"/>
            <a:chOff x="0" y="0"/>
            <a:chExt cx="10728960" cy="487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072896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7AE6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The Result: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9601200" y="9398127"/>
            <a:ext cx="78638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4A6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Karnataka can answer district-level, sector-level, and compliance-level questions it has never been able to answer before.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945600" cy="2419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CLOSING SUMMARY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15504" y="1562711"/>
          <a:ext cx="3771900" cy="3771900"/>
        </p:xfrm>
        <a:graphic>
          <a:graphicData uri="http://schemas.openxmlformats.org/presentationml/2006/ole">
            <p:oleObj imgW="4521200" imgH="452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DAHHMLaNJiQ</dc:identifier>
  <dcterms:modified xsi:type="dcterms:W3CDTF">2011-08-01T06:04:30Z</dcterms:modified>
  <cp:revision>1</cp:revision>
  <dc:title>AI_for_Bharat</dc:title>
</cp:coreProperties>
</file>